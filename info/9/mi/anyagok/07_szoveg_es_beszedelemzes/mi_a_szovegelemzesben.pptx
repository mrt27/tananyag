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82" r:id="rId5"/>
    <p:sldId id="283" r:id="rId6"/>
    <p:sldId id="278" r:id="rId7"/>
    <p:sldId id="293" r:id="rId8"/>
    <p:sldId id="294" r:id="rId9"/>
    <p:sldId id="295" r:id="rId10"/>
    <p:sldId id="296" r:id="rId11"/>
    <p:sldId id="284" r:id="rId12"/>
    <p:sldId id="292" r:id="rId13"/>
    <p:sldId id="270" r:id="rId14"/>
    <p:sldId id="29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26A"/>
    <a:srgbClr val="A50050"/>
    <a:srgbClr val="C4D600"/>
    <a:srgbClr val="009CDE"/>
    <a:srgbClr val="00C4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5E528F-E559-4AD9-9AB6-5AE2C3BC49B4}" v="2298" dt="2025-10-02T07:53:26.717"/>
    <p1510:client id="{3EE03867-1935-C762-B892-B0449DD8D49B}" v="5" dt="2025-10-03T08:38:04.804"/>
    <p1510:client id="{E86D1F8A-2CCC-075B-9C3F-4D4AD3B6107F}" v="1146" dt="2025-10-03T08:34:09.0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3A95FB-0E7F-4639-9D86-AB87F581AE6F}" type="datetimeFigureOut">
              <a:rPr lang="en-GB" smtClean="0"/>
              <a:t>03/10/2025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B1DAE1-856A-4075-989B-2C988F895D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83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360F6-88F5-CE44-9CE0-0ED766F2D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8F000E-4B33-F050-4846-3C7442DB8E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D465D4-714D-1B97-02E4-B3473BD349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33186A-3376-2114-EED3-C24901A30C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B1DAE1-856A-4075-989B-2C988F895DE3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39543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A </a:t>
            </a:r>
            <a:r>
              <a:rPr lang="en-GB" err="1"/>
              <a:t>dián</a:t>
            </a:r>
            <a:r>
              <a:rPr lang="en-GB"/>
              <a:t> </a:t>
            </a:r>
            <a:r>
              <a:rPr lang="en-GB" err="1"/>
              <a:t>három</a:t>
            </a:r>
            <a:r>
              <a:rPr lang="en-GB"/>
              <a:t> </a:t>
            </a:r>
            <a:r>
              <a:rPr lang="en-GB" err="1"/>
              <a:t>kiegészítendő</a:t>
            </a:r>
            <a:r>
              <a:rPr lang="en-GB"/>
              <a:t> </a:t>
            </a:r>
            <a:r>
              <a:rPr lang="en-GB" err="1"/>
              <a:t>mondat</a:t>
            </a:r>
            <a:r>
              <a:rPr lang="en-GB"/>
              <a:t> </a:t>
            </a:r>
            <a:r>
              <a:rPr lang="en-GB" err="1"/>
              <a:t>látható</a:t>
            </a:r>
            <a:r>
              <a:rPr lang="en-GB"/>
              <a:t>. Az </a:t>
            </a:r>
            <a:r>
              <a:rPr lang="en-GB" err="1"/>
              <a:t>egyik</a:t>
            </a:r>
            <a:r>
              <a:rPr lang="en-GB"/>
              <a:t> szó helyett „…” szerepel. A tanulók egészítsék ki a mondatokat.</a:t>
            </a:r>
            <a:endParaRPr lang="hu-HU"/>
          </a:p>
          <a:p>
            <a:pPr marL="171450" indent="-171450">
              <a:buFont typeface="Arial"/>
              <a:buChar char="•"/>
            </a:pPr>
            <a:r>
              <a:rPr lang="en-GB"/>
              <a:t>“A … </a:t>
            </a:r>
            <a:r>
              <a:rPr lang="en-GB" err="1"/>
              <a:t>felugrik</a:t>
            </a:r>
            <a:r>
              <a:rPr lang="en-GB"/>
              <a:t> </a:t>
            </a:r>
            <a:r>
              <a:rPr lang="en-GB" err="1"/>
              <a:t>az</a:t>
            </a:r>
            <a:r>
              <a:rPr lang="en-GB"/>
              <a:t> </a:t>
            </a:r>
            <a:r>
              <a:rPr lang="en-GB" err="1"/>
              <a:t>ölembe</a:t>
            </a:r>
            <a:r>
              <a:rPr lang="en-GB"/>
              <a:t>.”</a:t>
            </a:r>
          </a:p>
          <a:p>
            <a:pPr marL="171450" indent="-171450">
              <a:buFont typeface="Arial"/>
              <a:buChar char="•"/>
            </a:pPr>
            <a:r>
              <a:rPr lang="en-GB"/>
              <a:t>“A </a:t>
            </a:r>
            <a:r>
              <a:rPr lang="en-GB" err="1"/>
              <a:t>hűtőm</a:t>
            </a:r>
            <a:r>
              <a:rPr lang="en-GB"/>
              <a:t> tele van …-</a:t>
            </a:r>
            <a:r>
              <a:rPr lang="en-GB" err="1"/>
              <a:t>val</a:t>
            </a:r>
            <a:r>
              <a:rPr lang="en-GB"/>
              <a:t>/vel.”</a:t>
            </a:r>
          </a:p>
          <a:p>
            <a:pPr marL="171450" indent="-171450">
              <a:buFont typeface="Arial"/>
              <a:buChar char="•"/>
            </a:pPr>
            <a:r>
              <a:rPr lang="en-GB"/>
              <a:t>“A </a:t>
            </a:r>
            <a:r>
              <a:rPr lang="en-GB" err="1"/>
              <a:t>diák</a:t>
            </a:r>
            <a:r>
              <a:rPr lang="en-GB"/>
              <a:t> </a:t>
            </a:r>
            <a:r>
              <a:rPr lang="en-GB" err="1"/>
              <a:t>leül</a:t>
            </a:r>
            <a:r>
              <a:rPr lang="en-GB"/>
              <a:t> a … </a:t>
            </a:r>
            <a:r>
              <a:rPr lang="en-GB" err="1"/>
              <a:t>mellé</a:t>
            </a:r>
            <a:r>
              <a:rPr lang="en-GB"/>
              <a:t>.”</a:t>
            </a:r>
          </a:p>
          <a:p>
            <a:r>
              <a:rPr lang="en-GB" err="1"/>
              <a:t>Beszélgetés</a:t>
            </a:r>
            <a:r>
              <a:rPr lang="en-GB"/>
              <a:t>:</a:t>
            </a:r>
          </a:p>
          <a:p>
            <a:r>
              <a:rPr lang="en-GB" b="1" err="1"/>
              <a:t>Honnan</a:t>
            </a:r>
            <a:r>
              <a:rPr lang="en-GB" b="1"/>
              <a:t> </a:t>
            </a:r>
            <a:r>
              <a:rPr lang="en-GB" b="1" err="1"/>
              <a:t>tudtátok</a:t>
            </a:r>
            <a:r>
              <a:rPr lang="en-GB" b="1"/>
              <a:t>, mi </a:t>
            </a:r>
            <a:r>
              <a:rPr lang="en-GB" b="1" err="1"/>
              <a:t>hiányzik</a:t>
            </a:r>
            <a:r>
              <a:rPr lang="en-GB" b="1"/>
              <a:t>? </a:t>
            </a:r>
            <a:r>
              <a:rPr lang="en-GB" i="1"/>
              <a:t>A  </a:t>
            </a:r>
            <a:r>
              <a:rPr lang="en-GB" i="1" err="1"/>
              <a:t>szövegkörnyezetből</a:t>
            </a:r>
            <a:r>
              <a:rPr lang="en-GB" i="1"/>
              <a:t> </a:t>
            </a:r>
            <a:r>
              <a:rPr lang="en-GB" i="1" err="1"/>
              <a:t>értettétek</a:t>
            </a:r>
            <a:r>
              <a:rPr lang="en-GB" i="1"/>
              <a:t> meg – </a:t>
            </a:r>
            <a:r>
              <a:rPr lang="en-GB" i="1" err="1"/>
              <a:t>az</a:t>
            </a:r>
            <a:r>
              <a:rPr lang="en-GB" i="1"/>
              <a:t> MI is </a:t>
            </a:r>
            <a:r>
              <a:rPr lang="en-GB" i="1" err="1"/>
              <a:t>így</a:t>
            </a:r>
            <a:r>
              <a:rPr lang="en-GB" i="1"/>
              <a:t> </a:t>
            </a:r>
            <a:r>
              <a:rPr lang="en-GB" i="1" err="1"/>
              <a:t>dolgozik</a:t>
            </a:r>
            <a:r>
              <a:rPr lang="en-GB" i="1"/>
              <a:t>, de </a:t>
            </a:r>
            <a:r>
              <a:rPr lang="en-GB" i="1" err="1"/>
              <a:t>statisztikai</a:t>
            </a:r>
            <a:r>
              <a:rPr lang="en-GB" i="1"/>
              <a:t> </a:t>
            </a:r>
            <a:r>
              <a:rPr lang="en-GB" i="1" err="1"/>
              <a:t>alapon</a:t>
            </a:r>
            <a:r>
              <a:rPr lang="en-GB" i="1"/>
              <a:t>.</a:t>
            </a:r>
            <a:endParaRPr lang="en-GB"/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B1DAE1-856A-4075-989B-2C988F895DE3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32892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5BC68-F65D-5047-3D68-28920BACC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482590-3681-BA25-BB2E-9AD8C9142F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062345-CF40-0387-F331-FFDAB1DEF2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Mi </a:t>
            </a:r>
            <a:r>
              <a:rPr lang="en-US" b="1" err="1"/>
              <a:t>az</a:t>
            </a:r>
            <a:r>
              <a:rPr lang="en-US" b="1"/>
              <a:t> NLP?</a:t>
            </a:r>
            <a:endParaRPr lang="hu-HU"/>
          </a:p>
          <a:p>
            <a:pPr marL="171450" indent="-171450">
              <a:buFont typeface="Arial"/>
              <a:buChar char="•"/>
            </a:pPr>
            <a:r>
              <a:rPr lang="en-US" i="1"/>
              <a:t>NLP = </a:t>
            </a:r>
            <a:r>
              <a:rPr lang="en-US" i="1" err="1"/>
              <a:t>természetes</a:t>
            </a:r>
            <a:r>
              <a:rPr lang="en-US" i="1"/>
              <a:t> </a:t>
            </a:r>
            <a:r>
              <a:rPr lang="en-US" i="1" err="1"/>
              <a:t>nyelvfeldolgozás</a:t>
            </a:r>
            <a:r>
              <a:rPr lang="en-US"/>
              <a:t> (</a:t>
            </a:r>
            <a:r>
              <a:rPr lang="en-US" err="1"/>
              <a:t>angolul</a:t>
            </a:r>
            <a:r>
              <a:rPr lang="en-US"/>
              <a:t>: </a:t>
            </a:r>
            <a:r>
              <a:rPr lang="en-US" i="1"/>
              <a:t>Natural Language Processing</a:t>
            </a:r>
            <a:r>
              <a:rPr lang="en-US"/>
              <a:t>).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Ez </a:t>
            </a:r>
            <a:r>
              <a:rPr lang="en-US" err="1"/>
              <a:t>az</a:t>
            </a:r>
            <a:r>
              <a:rPr lang="en-US"/>
              <a:t> MI egyik területe, amely az emberi nyelv „megértését” és feldolgozását célozza: szövegek értelmezése, fordítása, kérdésekre válaszok adása, beszéd felismerése.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Fontos: </a:t>
            </a:r>
            <a:r>
              <a:rPr lang="en-US" err="1"/>
              <a:t>az</a:t>
            </a:r>
            <a:r>
              <a:rPr lang="en-US"/>
              <a:t> MI nem úgy érti a nyelvet, mint mi, hanem mintázatokat keres.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C6297-FFF2-2E95-FB1A-BD1674DB2D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B1DAE1-856A-4075-989B-2C988F895DE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42778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err="1"/>
              <a:t>Szöveg</a:t>
            </a:r>
            <a:r>
              <a:rPr lang="en-US" b="1"/>
              <a:t> </a:t>
            </a:r>
            <a:r>
              <a:rPr lang="en-US" b="1" err="1"/>
              <a:t>darabolása</a:t>
            </a:r>
            <a:r>
              <a:rPr lang="en-US" b="1"/>
              <a:t> (</a:t>
            </a:r>
            <a:r>
              <a:rPr lang="en-US" b="1" err="1"/>
              <a:t>tokenizálás</a:t>
            </a:r>
            <a:r>
              <a:rPr lang="en-US" b="1"/>
              <a:t>):</a:t>
            </a:r>
            <a:endParaRPr lang="hu-HU"/>
          </a:p>
          <a:p>
            <a:pPr marL="285750" indent="-285750">
              <a:buFont typeface="Arial"/>
              <a:buChar char="•"/>
            </a:pPr>
            <a:r>
              <a:rPr lang="en-US"/>
              <a:t>Az MI a </a:t>
            </a:r>
            <a:r>
              <a:rPr lang="en-US" err="1"/>
              <a:t>mondatokat</a:t>
            </a:r>
            <a:r>
              <a:rPr lang="en-US"/>
              <a:t> </a:t>
            </a:r>
            <a:r>
              <a:rPr lang="en-US" err="1"/>
              <a:t>apró</a:t>
            </a:r>
            <a:r>
              <a:rPr lang="en-US"/>
              <a:t> </a:t>
            </a:r>
            <a:r>
              <a:rPr lang="en-US" err="1"/>
              <a:t>darabokra</a:t>
            </a:r>
            <a:r>
              <a:rPr lang="en-US"/>
              <a:t>, </a:t>
            </a:r>
            <a:r>
              <a:rPr lang="en-US" i="1" err="1"/>
              <a:t>tokenekre</a:t>
            </a:r>
            <a:r>
              <a:rPr lang="en-US"/>
              <a:t> </a:t>
            </a:r>
            <a:r>
              <a:rPr lang="en-US" err="1"/>
              <a:t>bontja</a:t>
            </a:r>
            <a:r>
              <a:rPr lang="en-US"/>
              <a:t>. </a:t>
            </a:r>
            <a:r>
              <a:rPr lang="en-US" err="1"/>
              <a:t>Addig</a:t>
            </a:r>
            <a:r>
              <a:rPr lang="en-US"/>
              <a:t> </a:t>
            </a:r>
            <a:r>
              <a:rPr lang="en-US" err="1"/>
              <a:t>bontja</a:t>
            </a:r>
            <a:r>
              <a:rPr lang="en-US"/>
              <a:t> </a:t>
            </a:r>
            <a:r>
              <a:rPr lang="en-US" err="1"/>
              <a:t>az</a:t>
            </a:r>
            <a:r>
              <a:rPr lang="en-US"/>
              <a:t> MI a </a:t>
            </a:r>
            <a:r>
              <a:rPr lang="en-US" err="1"/>
              <a:t>szöveget</a:t>
            </a:r>
            <a:r>
              <a:rPr lang="en-US"/>
              <a:t>, </a:t>
            </a:r>
            <a:r>
              <a:rPr lang="en-US" err="1"/>
              <a:t>amíg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err="1"/>
              <a:t>nem</a:t>
            </a:r>
            <a:r>
              <a:rPr lang="en-US"/>
              <a:t> jut </a:t>
            </a:r>
            <a:r>
              <a:rPr lang="en-US" err="1"/>
              <a:t>egy</a:t>
            </a:r>
            <a:r>
              <a:rPr lang="en-US"/>
              <a:t> </a:t>
            </a:r>
            <a:r>
              <a:rPr lang="en-US" err="1"/>
              <a:t>olyan</a:t>
            </a:r>
            <a:r>
              <a:rPr lang="en-US"/>
              <a:t> </a:t>
            </a:r>
            <a:r>
              <a:rPr lang="en-US" err="1"/>
              <a:t>darabig</a:t>
            </a:r>
            <a:r>
              <a:rPr lang="en-US"/>
              <a:t>, </a:t>
            </a:r>
            <a:r>
              <a:rPr lang="en-US" err="1"/>
              <a:t>amit</a:t>
            </a:r>
            <a:r>
              <a:rPr lang="en-US"/>
              <a:t> </a:t>
            </a:r>
            <a:r>
              <a:rPr lang="en-US" err="1"/>
              <a:t>már</a:t>
            </a:r>
            <a:r>
              <a:rPr lang="en-US"/>
              <a:t> “meg </a:t>
            </a:r>
            <a:r>
              <a:rPr lang="en-US" err="1"/>
              <a:t>tud</a:t>
            </a:r>
            <a:r>
              <a:rPr lang="en-US"/>
              <a:t> </a:t>
            </a:r>
            <a:r>
              <a:rPr lang="en-US" err="1"/>
              <a:t>érteni</a:t>
            </a:r>
            <a:r>
              <a:rPr lang="en-US"/>
              <a:t>”.</a:t>
            </a:r>
            <a:endParaRPr lang="hu-HU"/>
          </a:p>
          <a:p>
            <a:pPr marL="285750" indent="-285750">
              <a:buFont typeface="Arial"/>
              <a:buChar char="•"/>
            </a:pPr>
            <a:r>
              <a:rPr lang="en-US" b="1" err="1"/>
              <a:t>Példa</a:t>
            </a:r>
            <a:r>
              <a:rPr lang="en-US" b="1"/>
              <a:t>: </a:t>
            </a:r>
            <a:r>
              <a:rPr lang="en-US" err="1"/>
              <a:t>egész</a:t>
            </a:r>
            <a:r>
              <a:rPr lang="en-US"/>
              <a:t> </a:t>
            </a:r>
            <a:r>
              <a:rPr lang="en-US" err="1"/>
              <a:t>szó</a:t>
            </a:r>
            <a:r>
              <a:rPr lang="en-US"/>
              <a:t> </a:t>
            </a:r>
            <a:r>
              <a:rPr lang="en-US" err="1"/>
              <a:t>tokenként</a:t>
            </a:r>
            <a:endParaRPr lang="hu-HU" err="1"/>
          </a:p>
          <a:p>
            <a:pPr marL="285750" indent="-285750">
              <a:buFont typeface="Arial"/>
              <a:buChar char="•"/>
            </a:pPr>
            <a:r>
              <a:rPr lang="en-US" b="1" err="1"/>
              <a:t>Hasonlat</a:t>
            </a:r>
            <a:r>
              <a:rPr lang="en-US" b="1"/>
              <a:t>:</a:t>
            </a:r>
            <a:endParaRPr lang="hu-HU"/>
          </a:p>
          <a:p>
            <a:pPr marL="285750" indent="-285750">
              <a:buFont typeface="Arial"/>
              <a:buChar char="•"/>
            </a:pPr>
            <a:r>
              <a:rPr lang="en-US" err="1"/>
              <a:t>Mondat</a:t>
            </a:r>
            <a:r>
              <a:rPr lang="en-US"/>
              <a:t>: </a:t>
            </a:r>
            <a:r>
              <a:rPr lang="en-US" i="1"/>
              <a:t>„A </a:t>
            </a:r>
            <a:r>
              <a:rPr lang="en-US" i="1" err="1"/>
              <a:t>kutya</a:t>
            </a:r>
            <a:r>
              <a:rPr lang="en-US" i="1"/>
              <a:t> </a:t>
            </a:r>
            <a:r>
              <a:rPr lang="en-US" i="1" err="1"/>
              <a:t>ugat</a:t>
            </a:r>
            <a:r>
              <a:rPr lang="en-US" i="1"/>
              <a:t>.”</a:t>
            </a:r>
            <a:endParaRPr lang="hu-HU"/>
          </a:p>
          <a:p>
            <a:pPr marL="285750" indent="-285750">
              <a:buFont typeface="Arial"/>
              <a:buChar char="•"/>
            </a:pPr>
            <a:r>
              <a:rPr lang="en-US" err="1"/>
              <a:t>Tokenek</a:t>
            </a:r>
            <a:r>
              <a:rPr lang="en-US"/>
              <a:t>: „A” | „</a:t>
            </a:r>
            <a:r>
              <a:rPr lang="en-US" err="1"/>
              <a:t>kutya</a:t>
            </a:r>
            <a:r>
              <a:rPr lang="en-US"/>
              <a:t>” | „</a:t>
            </a:r>
            <a:r>
              <a:rPr lang="en-US" err="1"/>
              <a:t>ugat</a:t>
            </a:r>
            <a:r>
              <a:rPr lang="en-US"/>
              <a:t>” | „.”</a:t>
            </a:r>
            <a:endParaRPr lang="hu-HU"/>
          </a:p>
          <a:p>
            <a:pPr marL="285750" indent="-285750">
              <a:buFont typeface="Arial"/>
              <a:buChar char="•"/>
            </a:pPr>
            <a:r>
              <a:rPr lang="en-US" b="1" err="1"/>
              <a:t>Példa</a:t>
            </a:r>
            <a:r>
              <a:rPr lang="en-US" b="1"/>
              <a:t>: </a:t>
            </a:r>
            <a:r>
              <a:rPr lang="en-US" err="1"/>
              <a:t>egész</a:t>
            </a:r>
            <a:r>
              <a:rPr lang="en-US"/>
              <a:t> </a:t>
            </a:r>
            <a:r>
              <a:rPr lang="en-US" err="1"/>
              <a:t>szó</a:t>
            </a:r>
            <a:r>
              <a:rPr lang="en-US"/>
              <a:t> </a:t>
            </a:r>
            <a:r>
              <a:rPr lang="en-US" err="1"/>
              <a:t>tokenként</a:t>
            </a:r>
            <a:endParaRPr lang="hu-HU" err="1"/>
          </a:p>
          <a:p>
            <a:pPr marL="285750" indent="-285750">
              <a:buFont typeface="Arial"/>
              <a:buChar char="•"/>
            </a:pPr>
            <a:r>
              <a:rPr lang="en-US" b="1" err="1"/>
              <a:t>Hasonlat</a:t>
            </a:r>
            <a:r>
              <a:rPr lang="en-US" b="1"/>
              <a:t>:</a:t>
            </a:r>
            <a:endParaRPr lang="hu-HU"/>
          </a:p>
          <a:p>
            <a:pPr marL="285750" indent="-285750">
              <a:buFont typeface="Arial"/>
              <a:buChar char="•"/>
            </a:pPr>
            <a:r>
              <a:rPr lang="en-US" err="1"/>
              <a:t>Gondoljunk</a:t>
            </a:r>
            <a:r>
              <a:rPr lang="en-US"/>
              <a:t> </a:t>
            </a:r>
            <a:r>
              <a:rPr lang="en-US" err="1"/>
              <a:t>egy</a:t>
            </a:r>
            <a:r>
              <a:rPr lang="en-US"/>
              <a:t> puzzle-re. Mi </a:t>
            </a:r>
            <a:r>
              <a:rPr lang="en-US" err="1"/>
              <a:t>egyben</a:t>
            </a:r>
            <a:r>
              <a:rPr lang="en-US"/>
              <a:t> </a:t>
            </a:r>
            <a:r>
              <a:rPr lang="en-US" err="1"/>
              <a:t>látjuk</a:t>
            </a:r>
            <a:r>
              <a:rPr lang="en-US"/>
              <a:t> a </a:t>
            </a:r>
            <a:r>
              <a:rPr lang="en-US" err="1"/>
              <a:t>képet</a:t>
            </a:r>
            <a:r>
              <a:rPr lang="en-US"/>
              <a:t>, </a:t>
            </a:r>
            <a:r>
              <a:rPr lang="en-US" err="1"/>
              <a:t>az</a:t>
            </a:r>
            <a:r>
              <a:rPr lang="en-US"/>
              <a:t> MI </a:t>
            </a:r>
            <a:r>
              <a:rPr lang="en-US" err="1"/>
              <a:t>viszont</a:t>
            </a:r>
            <a:r>
              <a:rPr lang="en-US"/>
              <a:t> </a:t>
            </a:r>
            <a:r>
              <a:rPr lang="en-US" err="1"/>
              <a:t>csak</a:t>
            </a:r>
            <a:r>
              <a:rPr lang="en-US"/>
              <a:t> a </a:t>
            </a:r>
            <a:r>
              <a:rPr lang="en-US" err="1"/>
              <a:t>kis</a:t>
            </a:r>
            <a:r>
              <a:rPr lang="en-US"/>
              <a:t> </a:t>
            </a:r>
            <a:r>
              <a:rPr lang="en-US" err="1"/>
              <a:t>darabokat</a:t>
            </a:r>
            <a:r>
              <a:rPr lang="en-US"/>
              <a:t> </a:t>
            </a:r>
            <a:r>
              <a:rPr lang="en-US" err="1"/>
              <a:t>rakosgatja</a:t>
            </a:r>
            <a:r>
              <a:rPr lang="en-US"/>
              <a:t> </a:t>
            </a:r>
            <a:r>
              <a:rPr lang="en-US" err="1"/>
              <a:t>össze</a:t>
            </a:r>
            <a:r>
              <a:rPr lang="en-US"/>
              <a:t>, </a:t>
            </a:r>
            <a:r>
              <a:rPr lang="en-US" err="1"/>
              <a:t>hogy</a:t>
            </a:r>
            <a:r>
              <a:rPr lang="en-US"/>
              <a:t> </a:t>
            </a:r>
            <a:r>
              <a:rPr lang="en-US" err="1"/>
              <a:t>kitalálja</a:t>
            </a:r>
            <a:r>
              <a:rPr lang="en-US"/>
              <a:t>, mi </a:t>
            </a:r>
            <a:r>
              <a:rPr lang="en-US" err="1"/>
              <a:t>jön</a:t>
            </a:r>
            <a:r>
              <a:rPr lang="en-US"/>
              <a:t> a </a:t>
            </a:r>
            <a:r>
              <a:rPr lang="en-US" err="1"/>
              <a:t>következőnek</a:t>
            </a:r>
            <a:r>
              <a:rPr lang="en-US"/>
              <a:t>.</a:t>
            </a:r>
            <a:endParaRPr lang="hu-HU"/>
          </a:p>
          <a:p>
            <a:pPr marL="285750" indent="-285750">
              <a:buFont typeface="Arial"/>
              <a:buChar char="•"/>
            </a:pPr>
            <a:r>
              <a:rPr lang="en-US" b="1" err="1"/>
              <a:t>Kulcsgondolat</a:t>
            </a:r>
            <a:r>
              <a:rPr lang="en-US" b="1"/>
              <a:t>:</a:t>
            </a:r>
            <a:r>
              <a:rPr lang="en-US"/>
              <a:t> Az MI </a:t>
            </a:r>
            <a:r>
              <a:rPr lang="en-US" err="1"/>
              <a:t>nem</a:t>
            </a:r>
            <a:r>
              <a:rPr lang="en-US"/>
              <a:t> </a:t>
            </a:r>
            <a:r>
              <a:rPr lang="en-US" err="1"/>
              <a:t>érti</a:t>
            </a:r>
            <a:r>
              <a:rPr lang="en-US"/>
              <a:t> a </a:t>
            </a:r>
            <a:r>
              <a:rPr lang="en-US" err="1"/>
              <a:t>mondatot</a:t>
            </a:r>
            <a:r>
              <a:rPr lang="en-US"/>
              <a:t>, </a:t>
            </a:r>
            <a:r>
              <a:rPr lang="en-US" err="1"/>
              <a:t>hanem</a:t>
            </a:r>
            <a:r>
              <a:rPr lang="en-US"/>
              <a:t> </a:t>
            </a:r>
            <a:r>
              <a:rPr lang="en-US" err="1"/>
              <a:t>apró</a:t>
            </a:r>
            <a:r>
              <a:rPr lang="en-US"/>
              <a:t> </a:t>
            </a:r>
            <a:r>
              <a:rPr lang="en-US" err="1"/>
              <a:t>részeket</a:t>
            </a:r>
            <a:r>
              <a:rPr lang="en-US"/>
              <a:t> </a:t>
            </a:r>
            <a:r>
              <a:rPr lang="en-US" err="1"/>
              <a:t>számol</a:t>
            </a:r>
            <a:r>
              <a:rPr lang="en-US"/>
              <a:t>, </a:t>
            </a:r>
            <a:r>
              <a:rPr lang="en-US" err="1"/>
              <a:t>és</a:t>
            </a:r>
            <a:r>
              <a:rPr lang="en-US"/>
              <a:t> </a:t>
            </a:r>
            <a:r>
              <a:rPr lang="en-US" err="1"/>
              <a:t>abból</a:t>
            </a:r>
            <a:r>
              <a:rPr lang="en-US"/>
              <a:t> </a:t>
            </a:r>
            <a:r>
              <a:rPr lang="en-US" err="1"/>
              <a:t>próbálja</a:t>
            </a:r>
            <a:r>
              <a:rPr lang="en-US"/>
              <a:t> </a:t>
            </a:r>
            <a:r>
              <a:rPr lang="en-US" err="1"/>
              <a:t>kitalálni</a:t>
            </a:r>
            <a:r>
              <a:rPr lang="en-US"/>
              <a:t> a </a:t>
            </a:r>
            <a:r>
              <a:rPr lang="en-US" err="1"/>
              <a:t>következő</a:t>
            </a:r>
            <a:r>
              <a:rPr lang="en-US"/>
              <a:t> </a:t>
            </a:r>
            <a:r>
              <a:rPr lang="en-US" err="1"/>
              <a:t>részt</a:t>
            </a:r>
            <a:r>
              <a:rPr lang="en-US"/>
              <a:t>.</a:t>
            </a:r>
            <a:endParaRPr lang="hu-HU"/>
          </a:p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B1DAE1-856A-4075-989B-2C988F895DE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87045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err="1"/>
              <a:t>Szöveg</a:t>
            </a:r>
            <a:r>
              <a:rPr lang="en-US" b="1"/>
              <a:t> </a:t>
            </a:r>
            <a:r>
              <a:rPr lang="en-US" b="1" err="1"/>
              <a:t>darabolása</a:t>
            </a:r>
            <a:r>
              <a:rPr lang="en-US" b="1"/>
              <a:t> (</a:t>
            </a:r>
            <a:r>
              <a:rPr lang="en-US" b="1" err="1"/>
              <a:t>tokenizálás</a:t>
            </a:r>
            <a:r>
              <a:rPr lang="en-US" b="1"/>
              <a:t>):</a:t>
            </a:r>
            <a:endParaRPr lang="hu-HU"/>
          </a:p>
          <a:p>
            <a:pPr marL="285750" indent="-285750">
              <a:buFont typeface="Arial"/>
              <a:buChar char="•"/>
            </a:pPr>
            <a:r>
              <a:rPr lang="en-US"/>
              <a:t>Az MI a mondatokat </a:t>
            </a:r>
            <a:r>
              <a:rPr lang="en-US" err="1"/>
              <a:t>apró</a:t>
            </a:r>
            <a:r>
              <a:rPr lang="en-US"/>
              <a:t> </a:t>
            </a:r>
            <a:r>
              <a:rPr lang="en-US" err="1"/>
              <a:t>darabokra</a:t>
            </a:r>
            <a:r>
              <a:rPr lang="en-US"/>
              <a:t>, </a:t>
            </a:r>
            <a:r>
              <a:rPr lang="en-US" i="1" err="1"/>
              <a:t>tokenekre</a:t>
            </a:r>
            <a:r>
              <a:rPr lang="en-US"/>
              <a:t> </a:t>
            </a:r>
            <a:r>
              <a:rPr lang="en-US" err="1"/>
              <a:t>bontja</a:t>
            </a:r>
            <a:r>
              <a:rPr lang="en-US"/>
              <a:t>. </a:t>
            </a:r>
            <a:r>
              <a:rPr lang="en-US" err="1"/>
              <a:t>Addig</a:t>
            </a:r>
            <a:r>
              <a:rPr lang="en-US"/>
              <a:t> </a:t>
            </a:r>
            <a:r>
              <a:rPr lang="en-US" err="1"/>
              <a:t>bontja</a:t>
            </a:r>
            <a:r>
              <a:rPr lang="en-US"/>
              <a:t> </a:t>
            </a:r>
            <a:r>
              <a:rPr lang="en-US" err="1"/>
              <a:t>az</a:t>
            </a:r>
            <a:r>
              <a:rPr lang="en-US"/>
              <a:t> MI a </a:t>
            </a:r>
            <a:r>
              <a:rPr lang="en-US" err="1"/>
              <a:t>szöveget</a:t>
            </a:r>
            <a:r>
              <a:rPr lang="en-US"/>
              <a:t>, </a:t>
            </a:r>
            <a:r>
              <a:rPr lang="en-US" err="1"/>
              <a:t>amíg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err="1"/>
              <a:t>nem</a:t>
            </a:r>
            <a:r>
              <a:rPr lang="en-US"/>
              <a:t> jut </a:t>
            </a:r>
            <a:r>
              <a:rPr lang="en-US" err="1"/>
              <a:t>egy</a:t>
            </a:r>
            <a:r>
              <a:rPr lang="en-US"/>
              <a:t> </a:t>
            </a:r>
            <a:r>
              <a:rPr lang="en-US" err="1"/>
              <a:t>olyan</a:t>
            </a:r>
            <a:r>
              <a:rPr lang="en-US"/>
              <a:t> </a:t>
            </a:r>
            <a:r>
              <a:rPr lang="en-US" err="1"/>
              <a:t>darabig</a:t>
            </a:r>
            <a:r>
              <a:rPr lang="en-US"/>
              <a:t>, </a:t>
            </a:r>
            <a:r>
              <a:rPr lang="en-US" err="1"/>
              <a:t>amit</a:t>
            </a:r>
            <a:r>
              <a:rPr lang="en-US"/>
              <a:t> </a:t>
            </a:r>
            <a:r>
              <a:rPr lang="en-US" err="1"/>
              <a:t>már</a:t>
            </a:r>
            <a:r>
              <a:rPr lang="en-US"/>
              <a:t> “meg </a:t>
            </a:r>
            <a:r>
              <a:rPr lang="en-US" err="1"/>
              <a:t>tud</a:t>
            </a:r>
            <a:r>
              <a:rPr lang="en-US"/>
              <a:t> </a:t>
            </a:r>
            <a:r>
              <a:rPr lang="en-US" err="1"/>
              <a:t>érteni</a:t>
            </a:r>
            <a:r>
              <a:rPr lang="en-US"/>
              <a:t>”.</a:t>
            </a:r>
            <a:endParaRPr lang="hu-HU"/>
          </a:p>
          <a:p>
            <a:pPr marL="285750" indent="-285750">
              <a:buFont typeface="Arial"/>
              <a:buChar char="•"/>
            </a:pPr>
            <a:r>
              <a:rPr lang="en-US" b="1" err="1"/>
              <a:t>Példa</a:t>
            </a:r>
            <a:r>
              <a:rPr lang="en-US" b="1"/>
              <a:t>: </a:t>
            </a:r>
            <a:r>
              <a:rPr lang="en-US" err="1"/>
              <a:t>egész</a:t>
            </a:r>
            <a:r>
              <a:rPr lang="en-US"/>
              <a:t> </a:t>
            </a:r>
            <a:r>
              <a:rPr lang="en-US" err="1"/>
              <a:t>szó</a:t>
            </a:r>
            <a:r>
              <a:rPr lang="en-US"/>
              <a:t> </a:t>
            </a:r>
            <a:r>
              <a:rPr lang="en-US" err="1"/>
              <a:t>tokenként</a:t>
            </a:r>
            <a:endParaRPr lang="hu-HU" err="1"/>
          </a:p>
          <a:p>
            <a:pPr marL="285750" indent="-285750">
              <a:buFont typeface="Arial"/>
              <a:buChar char="•"/>
            </a:pPr>
            <a:r>
              <a:rPr lang="en-US" b="1" err="1"/>
              <a:t>Hasonlat</a:t>
            </a:r>
            <a:r>
              <a:rPr lang="en-US" b="1"/>
              <a:t>:</a:t>
            </a:r>
            <a:endParaRPr lang="hu-HU"/>
          </a:p>
          <a:p>
            <a:pPr marL="285750" indent="-285750">
              <a:buFont typeface="Arial"/>
              <a:buChar char="•"/>
            </a:pPr>
            <a:r>
              <a:rPr lang="en-US" err="1"/>
              <a:t>Mondat</a:t>
            </a:r>
            <a:r>
              <a:rPr lang="en-US"/>
              <a:t>: </a:t>
            </a:r>
            <a:r>
              <a:rPr lang="en-US" i="1"/>
              <a:t>„A </a:t>
            </a:r>
            <a:r>
              <a:rPr lang="en-US" i="1" err="1"/>
              <a:t>kutya</a:t>
            </a:r>
            <a:r>
              <a:rPr lang="en-US" i="1"/>
              <a:t> </a:t>
            </a:r>
            <a:r>
              <a:rPr lang="en-US" i="1" err="1"/>
              <a:t>ugat</a:t>
            </a:r>
            <a:r>
              <a:rPr lang="en-US" i="1"/>
              <a:t>.”</a:t>
            </a:r>
            <a:endParaRPr lang="hu-HU"/>
          </a:p>
          <a:p>
            <a:pPr marL="285750" indent="-285750">
              <a:buFont typeface="Arial"/>
              <a:buChar char="•"/>
            </a:pPr>
            <a:r>
              <a:rPr lang="en-US" err="1"/>
              <a:t>Tokenek</a:t>
            </a:r>
            <a:r>
              <a:rPr lang="en-US"/>
              <a:t>: „A” | „kutya” | „ugat” | „.”</a:t>
            </a:r>
            <a:endParaRPr lang="hu-HU"/>
          </a:p>
          <a:p>
            <a:pPr marL="285750" indent="-285750">
              <a:buFont typeface="Arial"/>
              <a:buChar char="•"/>
            </a:pPr>
            <a:r>
              <a:rPr lang="en-US" b="1" err="1"/>
              <a:t>Példa</a:t>
            </a:r>
            <a:r>
              <a:rPr lang="en-US" b="1"/>
              <a:t>: </a:t>
            </a:r>
            <a:r>
              <a:rPr lang="en-US" err="1"/>
              <a:t>egész</a:t>
            </a:r>
            <a:r>
              <a:rPr lang="en-US"/>
              <a:t> </a:t>
            </a:r>
            <a:r>
              <a:rPr lang="en-US" err="1"/>
              <a:t>szó</a:t>
            </a:r>
            <a:r>
              <a:rPr lang="en-US"/>
              <a:t> </a:t>
            </a:r>
            <a:r>
              <a:rPr lang="en-US" err="1"/>
              <a:t>tokenként</a:t>
            </a:r>
            <a:endParaRPr lang="hu-HU" err="1"/>
          </a:p>
          <a:p>
            <a:pPr marL="285750" indent="-285750">
              <a:buFont typeface="Arial"/>
              <a:buChar char="•"/>
            </a:pPr>
            <a:r>
              <a:rPr lang="en-US" b="1" err="1"/>
              <a:t>Hasonlat</a:t>
            </a:r>
            <a:r>
              <a:rPr lang="en-US" b="1"/>
              <a:t>:</a:t>
            </a:r>
            <a:endParaRPr lang="hu-HU"/>
          </a:p>
          <a:p>
            <a:pPr marL="285750" indent="-285750">
              <a:buFont typeface="Arial"/>
              <a:buChar char="•"/>
            </a:pPr>
            <a:r>
              <a:rPr lang="en-US" err="1"/>
              <a:t>Gondoljunk</a:t>
            </a:r>
            <a:r>
              <a:rPr lang="en-US"/>
              <a:t> </a:t>
            </a:r>
            <a:r>
              <a:rPr lang="en-US" err="1"/>
              <a:t>egy</a:t>
            </a:r>
            <a:r>
              <a:rPr lang="en-US"/>
              <a:t> puzzle-re. Mi egyben látjuk a képet, az MI viszont csak a kis darabokat rakosgatja össze, hogy kitalálja, mi jön a következőnek.</a:t>
            </a:r>
            <a:endParaRPr lang="hu-HU"/>
          </a:p>
          <a:p>
            <a:pPr marL="285750" indent="-285750">
              <a:buFont typeface="Arial"/>
              <a:buChar char="•"/>
            </a:pPr>
            <a:r>
              <a:rPr lang="en-US" b="1" err="1"/>
              <a:t>Kulcsgondolat</a:t>
            </a:r>
            <a:r>
              <a:rPr lang="en-US" b="1"/>
              <a:t>:</a:t>
            </a:r>
            <a:r>
              <a:rPr lang="en-US"/>
              <a:t> Az MI </a:t>
            </a:r>
            <a:r>
              <a:rPr lang="en-US" err="1"/>
              <a:t>nem</a:t>
            </a:r>
            <a:r>
              <a:rPr lang="en-US"/>
              <a:t> </a:t>
            </a:r>
            <a:r>
              <a:rPr lang="en-US" err="1"/>
              <a:t>érti</a:t>
            </a:r>
            <a:r>
              <a:rPr lang="en-US"/>
              <a:t> a </a:t>
            </a:r>
            <a:r>
              <a:rPr lang="en-US" err="1"/>
              <a:t>mondatot</a:t>
            </a:r>
            <a:r>
              <a:rPr lang="en-US"/>
              <a:t>, </a:t>
            </a:r>
            <a:r>
              <a:rPr lang="en-US" err="1"/>
              <a:t>hanem</a:t>
            </a:r>
            <a:r>
              <a:rPr lang="en-US"/>
              <a:t> </a:t>
            </a:r>
            <a:r>
              <a:rPr lang="en-US" err="1"/>
              <a:t>apró</a:t>
            </a:r>
            <a:r>
              <a:rPr lang="en-US"/>
              <a:t> </a:t>
            </a:r>
            <a:r>
              <a:rPr lang="en-US" err="1"/>
              <a:t>részeket</a:t>
            </a:r>
            <a:r>
              <a:rPr lang="en-US"/>
              <a:t> </a:t>
            </a:r>
            <a:r>
              <a:rPr lang="en-US" err="1"/>
              <a:t>számol</a:t>
            </a:r>
            <a:r>
              <a:rPr lang="en-US"/>
              <a:t>, </a:t>
            </a:r>
            <a:r>
              <a:rPr lang="en-US" err="1"/>
              <a:t>és</a:t>
            </a:r>
            <a:r>
              <a:rPr lang="en-US"/>
              <a:t> </a:t>
            </a:r>
            <a:r>
              <a:rPr lang="en-US" err="1"/>
              <a:t>abból</a:t>
            </a:r>
            <a:r>
              <a:rPr lang="en-US"/>
              <a:t> </a:t>
            </a:r>
            <a:r>
              <a:rPr lang="en-US" err="1"/>
              <a:t>próbálja</a:t>
            </a:r>
            <a:r>
              <a:rPr lang="en-US"/>
              <a:t> </a:t>
            </a:r>
            <a:r>
              <a:rPr lang="en-US" err="1"/>
              <a:t>kitalálni</a:t>
            </a:r>
            <a:r>
              <a:rPr lang="en-US"/>
              <a:t> a </a:t>
            </a:r>
            <a:r>
              <a:rPr lang="en-US" err="1"/>
              <a:t>következő</a:t>
            </a:r>
            <a:r>
              <a:rPr lang="en-US"/>
              <a:t> </a:t>
            </a:r>
            <a:r>
              <a:rPr lang="en-US" err="1"/>
              <a:t>részt</a:t>
            </a:r>
            <a:r>
              <a:rPr lang="en-US"/>
              <a:t>.</a:t>
            </a:r>
            <a:endParaRPr lang="hu-HU"/>
          </a:p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B1DAE1-856A-4075-989B-2C988F895DE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10325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err="1"/>
              <a:t>Szöveg</a:t>
            </a:r>
            <a:r>
              <a:rPr lang="en-US" b="1"/>
              <a:t> </a:t>
            </a:r>
            <a:r>
              <a:rPr lang="en-US" b="1" err="1"/>
              <a:t>darabolása</a:t>
            </a:r>
            <a:r>
              <a:rPr lang="en-US" b="1"/>
              <a:t> (</a:t>
            </a:r>
            <a:r>
              <a:rPr lang="en-US" b="1" err="1"/>
              <a:t>tokenizálás</a:t>
            </a:r>
            <a:r>
              <a:rPr lang="en-US" b="1"/>
              <a:t>):</a:t>
            </a:r>
            <a:endParaRPr lang="hu-HU"/>
          </a:p>
          <a:p>
            <a:pPr marL="285750" indent="-285750">
              <a:buFont typeface="Arial"/>
              <a:buChar char="•"/>
            </a:pPr>
            <a:r>
              <a:rPr lang="en-US"/>
              <a:t>Az MI a mondatokat </a:t>
            </a:r>
            <a:r>
              <a:rPr lang="en-US" err="1"/>
              <a:t>apró</a:t>
            </a:r>
            <a:r>
              <a:rPr lang="en-US"/>
              <a:t> </a:t>
            </a:r>
            <a:r>
              <a:rPr lang="en-US" err="1"/>
              <a:t>darabokra</a:t>
            </a:r>
            <a:r>
              <a:rPr lang="en-US"/>
              <a:t>, </a:t>
            </a:r>
            <a:r>
              <a:rPr lang="en-US" i="1" err="1"/>
              <a:t>tokenekre</a:t>
            </a:r>
            <a:r>
              <a:rPr lang="en-US"/>
              <a:t> </a:t>
            </a:r>
            <a:r>
              <a:rPr lang="en-US" err="1"/>
              <a:t>bontja</a:t>
            </a:r>
            <a:r>
              <a:rPr lang="en-US"/>
              <a:t>. </a:t>
            </a:r>
            <a:r>
              <a:rPr lang="en-US" err="1"/>
              <a:t>Addig</a:t>
            </a:r>
            <a:r>
              <a:rPr lang="en-US"/>
              <a:t> </a:t>
            </a:r>
            <a:r>
              <a:rPr lang="en-US" err="1"/>
              <a:t>bontja</a:t>
            </a:r>
            <a:r>
              <a:rPr lang="en-US"/>
              <a:t> </a:t>
            </a:r>
            <a:r>
              <a:rPr lang="en-US" err="1"/>
              <a:t>az</a:t>
            </a:r>
            <a:r>
              <a:rPr lang="en-US"/>
              <a:t> MI a </a:t>
            </a:r>
            <a:r>
              <a:rPr lang="en-US" err="1"/>
              <a:t>szöveget</a:t>
            </a:r>
            <a:r>
              <a:rPr lang="en-US"/>
              <a:t>, </a:t>
            </a:r>
            <a:r>
              <a:rPr lang="en-US" err="1"/>
              <a:t>amíg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err="1"/>
              <a:t>nem</a:t>
            </a:r>
            <a:r>
              <a:rPr lang="en-US"/>
              <a:t> jut </a:t>
            </a:r>
            <a:r>
              <a:rPr lang="en-US" err="1"/>
              <a:t>egy</a:t>
            </a:r>
            <a:r>
              <a:rPr lang="en-US"/>
              <a:t> </a:t>
            </a:r>
            <a:r>
              <a:rPr lang="en-US" err="1"/>
              <a:t>olyan</a:t>
            </a:r>
            <a:r>
              <a:rPr lang="en-US"/>
              <a:t> </a:t>
            </a:r>
            <a:r>
              <a:rPr lang="en-US" err="1"/>
              <a:t>darabig</a:t>
            </a:r>
            <a:r>
              <a:rPr lang="en-US"/>
              <a:t>, </a:t>
            </a:r>
            <a:r>
              <a:rPr lang="en-US" err="1"/>
              <a:t>amit</a:t>
            </a:r>
            <a:r>
              <a:rPr lang="en-US"/>
              <a:t> </a:t>
            </a:r>
            <a:r>
              <a:rPr lang="en-US" err="1"/>
              <a:t>már</a:t>
            </a:r>
            <a:r>
              <a:rPr lang="en-US"/>
              <a:t> “meg </a:t>
            </a:r>
            <a:r>
              <a:rPr lang="en-US" err="1"/>
              <a:t>tud</a:t>
            </a:r>
            <a:r>
              <a:rPr lang="en-US"/>
              <a:t> </a:t>
            </a:r>
            <a:r>
              <a:rPr lang="en-US" err="1"/>
              <a:t>érteni</a:t>
            </a:r>
            <a:r>
              <a:rPr lang="en-US"/>
              <a:t>”.</a:t>
            </a:r>
            <a:endParaRPr lang="hu-HU"/>
          </a:p>
          <a:p>
            <a:pPr marL="285750" indent="-285750">
              <a:buFont typeface="Arial"/>
              <a:buChar char="•"/>
            </a:pPr>
            <a:r>
              <a:rPr lang="en-US" b="1" err="1"/>
              <a:t>Példa</a:t>
            </a:r>
            <a:r>
              <a:rPr lang="en-US" b="1"/>
              <a:t>: </a:t>
            </a:r>
            <a:r>
              <a:rPr lang="en-US" err="1"/>
              <a:t>egész</a:t>
            </a:r>
            <a:r>
              <a:rPr lang="en-US"/>
              <a:t> </a:t>
            </a:r>
            <a:r>
              <a:rPr lang="en-US" err="1"/>
              <a:t>szó</a:t>
            </a:r>
            <a:r>
              <a:rPr lang="en-US"/>
              <a:t> </a:t>
            </a:r>
            <a:r>
              <a:rPr lang="en-US" err="1"/>
              <a:t>tokenként</a:t>
            </a:r>
            <a:endParaRPr lang="hu-HU" err="1"/>
          </a:p>
          <a:p>
            <a:pPr marL="285750" indent="-285750">
              <a:buFont typeface="Arial"/>
              <a:buChar char="•"/>
            </a:pPr>
            <a:r>
              <a:rPr lang="en-US" b="1" err="1"/>
              <a:t>Hasonlat</a:t>
            </a:r>
            <a:r>
              <a:rPr lang="en-US" b="1"/>
              <a:t>:</a:t>
            </a:r>
            <a:endParaRPr lang="hu-HU"/>
          </a:p>
          <a:p>
            <a:pPr marL="285750" indent="-285750">
              <a:buFont typeface="Arial"/>
              <a:buChar char="•"/>
            </a:pPr>
            <a:r>
              <a:rPr lang="en-US" err="1"/>
              <a:t>Mondat</a:t>
            </a:r>
            <a:r>
              <a:rPr lang="en-US"/>
              <a:t>: </a:t>
            </a:r>
            <a:r>
              <a:rPr lang="en-US" i="1"/>
              <a:t>„A </a:t>
            </a:r>
            <a:r>
              <a:rPr lang="en-US" i="1" err="1"/>
              <a:t>kutya</a:t>
            </a:r>
            <a:r>
              <a:rPr lang="en-US" i="1"/>
              <a:t> </a:t>
            </a:r>
            <a:r>
              <a:rPr lang="en-US" i="1" err="1"/>
              <a:t>ugat</a:t>
            </a:r>
            <a:r>
              <a:rPr lang="en-US" i="1"/>
              <a:t>.”</a:t>
            </a:r>
            <a:endParaRPr lang="hu-HU"/>
          </a:p>
          <a:p>
            <a:pPr marL="285750" indent="-285750">
              <a:buFont typeface="Arial"/>
              <a:buChar char="•"/>
            </a:pPr>
            <a:r>
              <a:rPr lang="en-US" err="1"/>
              <a:t>Tokenek</a:t>
            </a:r>
            <a:r>
              <a:rPr lang="en-US"/>
              <a:t>: „A” | „kutya” | „ugat” | „.”</a:t>
            </a:r>
            <a:endParaRPr lang="hu-HU"/>
          </a:p>
          <a:p>
            <a:pPr marL="285750" indent="-285750">
              <a:buFont typeface="Arial"/>
              <a:buChar char="•"/>
            </a:pPr>
            <a:r>
              <a:rPr lang="en-US" b="1" err="1"/>
              <a:t>Példa</a:t>
            </a:r>
            <a:r>
              <a:rPr lang="en-US" b="1"/>
              <a:t>: </a:t>
            </a:r>
            <a:r>
              <a:rPr lang="en-US" err="1"/>
              <a:t>egész</a:t>
            </a:r>
            <a:r>
              <a:rPr lang="en-US"/>
              <a:t> </a:t>
            </a:r>
            <a:r>
              <a:rPr lang="en-US" err="1"/>
              <a:t>szó</a:t>
            </a:r>
            <a:r>
              <a:rPr lang="en-US"/>
              <a:t> </a:t>
            </a:r>
            <a:r>
              <a:rPr lang="en-US" err="1"/>
              <a:t>tokenként</a:t>
            </a:r>
            <a:endParaRPr lang="hu-HU" err="1"/>
          </a:p>
          <a:p>
            <a:pPr marL="285750" indent="-285750">
              <a:buFont typeface="Arial"/>
              <a:buChar char="•"/>
            </a:pPr>
            <a:r>
              <a:rPr lang="en-US" b="1" err="1"/>
              <a:t>Hasonlat</a:t>
            </a:r>
            <a:r>
              <a:rPr lang="en-US" b="1"/>
              <a:t>:</a:t>
            </a:r>
            <a:endParaRPr lang="hu-HU"/>
          </a:p>
          <a:p>
            <a:pPr marL="285750" indent="-285750">
              <a:buFont typeface="Arial"/>
              <a:buChar char="•"/>
            </a:pPr>
            <a:r>
              <a:rPr lang="en-US" err="1"/>
              <a:t>Gondoljunk</a:t>
            </a:r>
            <a:r>
              <a:rPr lang="en-US"/>
              <a:t> </a:t>
            </a:r>
            <a:r>
              <a:rPr lang="en-US" err="1"/>
              <a:t>egy</a:t>
            </a:r>
            <a:r>
              <a:rPr lang="en-US"/>
              <a:t> puzzle-re. Mi </a:t>
            </a:r>
            <a:r>
              <a:rPr lang="en-US" err="1"/>
              <a:t>egyben</a:t>
            </a:r>
            <a:r>
              <a:rPr lang="en-US"/>
              <a:t> </a:t>
            </a:r>
            <a:r>
              <a:rPr lang="en-US" err="1"/>
              <a:t>látjuk</a:t>
            </a:r>
            <a:r>
              <a:rPr lang="en-US"/>
              <a:t> a </a:t>
            </a:r>
            <a:r>
              <a:rPr lang="en-US" err="1"/>
              <a:t>képet</a:t>
            </a:r>
            <a:r>
              <a:rPr lang="en-US"/>
              <a:t>, </a:t>
            </a:r>
            <a:r>
              <a:rPr lang="en-US" err="1"/>
              <a:t>az</a:t>
            </a:r>
            <a:r>
              <a:rPr lang="en-US"/>
              <a:t> MI </a:t>
            </a:r>
            <a:r>
              <a:rPr lang="en-US" err="1"/>
              <a:t>viszont</a:t>
            </a:r>
            <a:r>
              <a:rPr lang="en-US"/>
              <a:t> </a:t>
            </a:r>
            <a:r>
              <a:rPr lang="en-US" err="1"/>
              <a:t>csak</a:t>
            </a:r>
            <a:r>
              <a:rPr lang="en-US"/>
              <a:t> a </a:t>
            </a:r>
            <a:r>
              <a:rPr lang="en-US" err="1"/>
              <a:t>kis</a:t>
            </a:r>
            <a:r>
              <a:rPr lang="en-US"/>
              <a:t> </a:t>
            </a:r>
            <a:r>
              <a:rPr lang="en-US" err="1"/>
              <a:t>darabokat</a:t>
            </a:r>
            <a:r>
              <a:rPr lang="en-US"/>
              <a:t> </a:t>
            </a:r>
            <a:r>
              <a:rPr lang="en-US" err="1"/>
              <a:t>rakosgatja</a:t>
            </a:r>
            <a:r>
              <a:rPr lang="en-US"/>
              <a:t> </a:t>
            </a:r>
            <a:r>
              <a:rPr lang="en-US" err="1"/>
              <a:t>össze</a:t>
            </a:r>
            <a:r>
              <a:rPr lang="en-US"/>
              <a:t>, </a:t>
            </a:r>
            <a:r>
              <a:rPr lang="en-US" err="1"/>
              <a:t>hogy</a:t>
            </a:r>
            <a:r>
              <a:rPr lang="en-US"/>
              <a:t> </a:t>
            </a:r>
            <a:r>
              <a:rPr lang="en-US" err="1"/>
              <a:t>kitalálja</a:t>
            </a:r>
            <a:r>
              <a:rPr lang="en-US"/>
              <a:t>, mi </a:t>
            </a:r>
            <a:r>
              <a:rPr lang="en-US" err="1"/>
              <a:t>jön</a:t>
            </a:r>
            <a:r>
              <a:rPr lang="en-US"/>
              <a:t> a </a:t>
            </a:r>
            <a:r>
              <a:rPr lang="en-US" err="1"/>
              <a:t>következőnek</a:t>
            </a:r>
            <a:r>
              <a:rPr lang="en-US"/>
              <a:t>.</a:t>
            </a:r>
            <a:endParaRPr lang="hu-HU"/>
          </a:p>
          <a:p>
            <a:pPr marL="285750" indent="-285750">
              <a:buFont typeface="Arial"/>
              <a:buChar char="•"/>
            </a:pPr>
            <a:r>
              <a:rPr lang="en-US" b="1" err="1"/>
              <a:t>Kulcsgondolat</a:t>
            </a:r>
            <a:r>
              <a:rPr lang="en-US" b="1"/>
              <a:t>:</a:t>
            </a:r>
            <a:r>
              <a:rPr lang="en-US"/>
              <a:t> Az MI </a:t>
            </a:r>
            <a:r>
              <a:rPr lang="en-US" err="1"/>
              <a:t>nem</a:t>
            </a:r>
            <a:r>
              <a:rPr lang="en-US"/>
              <a:t> </a:t>
            </a:r>
            <a:r>
              <a:rPr lang="en-US" err="1"/>
              <a:t>érti</a:t>
            </a:r>
            <a:r>
              <a:rPr lang="en-US"/>
              <a:t> a </a:t>
            </a:r>
            <a:r>
              <a:rPr lang="en-US" err="1"/>
              <a:t>mondatot</a:t>
            </a:r>
            <a:r>
              <a:rPr lang="en-US"/>
              <a:t>, </a:t>
            </a:r>
            <a:r>
              <a:rPr lang="en-US" err="1"/>
              <a:t>hanem</a:t>
            </a:r>
            <a:r>
              <a:rPr lang="en-US"/>
              <a:t> </a:t>
            </a:r>
            <a:r>
              <a:rPr lang="en-US" err="1"/>
              <a:t>apró</a:t>
            </a:r>
            <a:r>
              <a:rPr lang="en-US"/>
              <a:t> </a:t>
            </a:r>
            <a:r>
              <a:rPr lang="en-US" err="1"/>
              <a:t>részeket</a:t>
            </a:r>
            <a:r>
              <a:rPr lang="en-US"/>
              <a:t> </a:t>
            </a:r>
            <a:r>
              <a:rPr lang="en-US" err="1"/>
              <a:t>számol</a:t>
            </a:r>
            <a:r>
              <a:rPr lang="en-US"/>
              <a:t>, </a:t>
            </a:r>
            <a:r>
              <a:rPr lang="en-US" err="1"/>
              <a:t>és</a:t>
            </a:r>
            <a:r>
              <a:rPr lang="en-US"/>
              <a:t> </a:t>
            </a:r>
            <a:r>
              <a:rPr lang="en-US" err="1"/>
              <a:t>abból</a:t>
            </a:r>
            <a:r>
              <a:rPr lang="en-US"/>
              <a:t> </a:t>
            </a:r>
            <a:r>
              <a:rPr lang="en-US" err="1"/>
              <a:t>próbálja</a:t>
            </a:r>
            <a:r>
              <a:rPr lang="en-US"/>
              <a:t> </a:t>
            </a:r>
            <a:r>
              <a:rPr lang="en-US" err="1"/>
              <a:t>kitalálni</a:t>
            </a:r>
            <a:r>
              <a:rPr lang="en-US"/>
              <a:t> a </a:t>
            </a:r>
            <a:r>
              <a:rPr lang="en-US" err="1"/>
              <a:t>következő</a:t>
            </a:r>
            <a:r>
              <a:rPr lang="en-US"/>
              <a:t> </a:t>
            </a:r>
            <a:r>
              <a:rPr lang="en-US" err="1"/>
              <a:t>részt</a:t>
            </a:r>
            <a:r>
              <a:rPr lang="en-US"/>
              <a:t>.</a:t>
            </a:r>
            <a:endParaRPr lang="hu-HU"/>
          </a:p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B1DAE1-856A-4075-989B-2C988F895DE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01607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err="1"/>
              <a:t>Szöveg</a:t>
            </a:r>
            <a:r>
              <a:rPr lang="en-US" b="1"/>
              <a:t> </a:t>
            </a:r>
            <a:r>
              <a:rPr lang="en-US" b="1" err="1"/>
              <a:t>darabolása</a:t>
            </a:r>
            <a:r>
              <a:rPr lang="en-US" b="1"/>
              <a:t> (</a:t>
            </a:r>
            <a:r>
              <a:rPr lang="en-US" b="1" err="1"/>
              <a:t>tokenizálás</a:t>
            </a:r>
            <a:r>
              <a:rPr lang="en-US" b="1"/>
              <a:t>):</a:t>
            </a:r>
            <a:endParaRPr lang="hu-HU"/>
          </a:p>
          <a:p>
            <a:pPr marL="285750" indent="-285750">
              <a:buFont typeface="Arial"/>
              <a:buChar char="•"/>
            </a:pPr>
            <a:r>
              <a:rPr lang="en-US"/>
              <a:t>Az MI a mondatokat </a:t>
            </a:r>
            <a:r>
              <a:rPr lang="en-US" err="1"/>
              <a:t>apró</a:t>
            </a:r>
            <a:r>
              <a:rPr lang="en-US"/>
              <a:t> </a:t>
            </a:r>
            <a:r>
              <a:rPr lang="en-US" err="1"/>
              <a:t>darabokra</a:t>
            </a:r>
            <a:r>
              <a:rPr lang="en-US"/>
              <a:t>, </a:t>
            </a:r>
            <a:r>
              <a:rPr lang="en-US" i="1" err="1"/>
              <a:t>tokenekre</a:t>
            </a:r>
            <a:r>
              <a:rPr lang="en-US"/>
              <a:t> </a:t>
            </a:r>
            <a:r>
              <a:rPr lang="en-US" err="1"/>
              <a:t>bontja</a:t>
            </a:r>
            <a:r>
              <a:rPr lang="en-US"/>
              <a:t>. </a:t>
            </a:r>
            <a:r>
              <a:rPr lang="en-US" err="1"/>
              <a:t>Addig</a:t>
            </a:r>
            <a:r>
              <a:rPr lang="en-US"/>
              <a:t> </a:t>
            </a:r>
            <a:r>
              <a:rPr lang="en-US" err="1"/>
              <a:t>bontja</a:t>
            </a:r>
            <a:r>
              <a:rPr lang="en-US"/>
              <a:t> </a:t>
            </a:r>
            <a:r>
              <a:rPr lang="en-US" err="1"/>
              <a:t>az</a:t>
            </a:r>
            <a:r>
              <a:rPr lang="en-US"/>
              <a:t> MI a </a:t>
            </a:r>
            <a:r>
              <a:rPr lang="en-US" err="1"/>
              <a:t>szöveget</a:t>
            </a:r>
            <a:r>
              <a:rPr lang="en-US"/>
              <a:t>, </a:t>
            </a:r>
            <a:r>
              <a:rPr lang="en-US" err="1"/>
              <a:t>amíg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err="1"/>
              <a:t>nem</a:t>
            </a:r>
            <a:r>
              <a:rPr lang="en-US"/>
              <a:t> jut </a:t>
            </a:r>
            <a:r>
              <a:rPr lang="en-US" err="1"/>
              <a:t>egy</a:t>
            </a:r>
            <a:r>
              <a:rPr lang="en-US"/>
              <a:t> </a:t>
            </a:r>
            <a:r>
              <a:rPr lang="en-US" err="1"/>
              <a:t>olyan</a:t>
            </a:r>
            <a:r>
              <a:rPr lang="en-US"/>
              <a:t> </a:t>
            </a:r>
            <a:r>
              <a:rPr lang="en-US" err="1"/>
              <a:t>darabig</a:t>
            </a:r>
            <a:r>
              <a:rPr lang="en-US"/>
              <a:t>, </a:t>
            </a:r>
            <a:r>
              <a:rPr lang="en-US" err="1"/>
              <a:t>amit</a:t>
            </a:r>
            <a:r>
              <a:rPr lang="en-US"/>
              <a:t> </a:t>
            </a:r>
            <a:r>
              <a:rPr lang="en-US" err="1"/>
              <a:t>már</a:t>
            </a:r>
            <a:r>
              <a:rPr lang="en-US"/>
              <a:t> “meg </a:t>
            </a:r>
            <a:r>
              <a:rPr lang="en-US" err="1"/>
              <a:t>tud</a:t>
            </a:r>
            <a:r>
              <a:rPr lang="en-US"/>
              <a:t> </a:t>
            </a:r>
            <a:r>
              <a:rPr lang="en-US" err="1"/>
              <a:t>érteni</a:t>
            </a:r>
            <a:r>
              <a:rPr lang="en-US"/>
              <a:t>”.</a:t>
            </a:r>
            <a:endParaRPr lang="hu-HU"/>
          </a:p>
          <a:p>
            <a:pPr marL="285750" indent="-285750">
              <a:buFont typeface="Arial"/>
              <a:buChar char="•"/>
            </a:pPr>
            <a:r>
              <a:rPr lang="en-US" b="1" err="1"/>
              <a:t>Példa</a:t>
            </a:r>
            <a:r>
              <a:rPr lang="en-US" b="1"/>
              <a:t>: </a:t>
            </a:r>
            <a:r>
              <a:rPr lang="en-US" err="1"/>
              <a:t>egész</a:t>
            </a:r>
            <a:r>
              <a:rPr lang="en-US"/>
              <a:t> </a:t>
            </a:r>
            <a:r>
              <a:rPr lang="en-US" err="1"/>
              <a:t>szó</a:t>
            </a:r>
            <a:r>
              <a:rPr lang="en-US"/>
              <a:t> </a:t>
            </a:r>
            <a:r>
              <a:rPr lang="en-US" err="1"/>
              <a:t>tokenként</a:t>
            </a:r>
            <a:endParaRPr lang="hu-HU" err="1"/>
          </a:p>
          <a:p>
            <a:pPr marL="285750" indent="-285750">
              <a:buFont typeface="Arial"/>
              <a:buChar char="•"/>
            </a:pPr>
            <a:r>
              <a:rPr lang="en-US" b="1" err="1"/>
              <a:t>Hasonlat</a:t>
            </a:r>
            <a:r>
              <a:rPr lang="en-US" b="1"/>
              <a:t>:</a:t>
            </a:r>
            <a:endParaRPr lang="hu-HU"/>
          </a:p>
          <a:p>
            <a:pPr marL="285750" indent="-285750">
              <a:buFont typeface="Arial"/>
              <a:buChar char="•"/>
            </a:pPr>
            <a:r>
              <a:rPr lang="en-US" err="1"/>
              <a:t>Mondat</a:t>
            </a:r>
            <a:r>
              <a:rPr lang="en-US"/>
              <a:t>: </a:t>
            </a:r>
            <a:r>
              <a:rPr lang="en-US" i="1"/>
              <a:t>„A </a:t>
            </a:r>
            <a:r>
              <a:rPr lang="en-US" i="1" err="1"/>
              <a:t>kutya</a:t>
            </a:r>
            <a:r>
              <a:rPr lang="en-US" i="1"/>
              <a:t> </a:t>
            </a:r>
            <a:r>
              <a:rPr lang="en-US" i="1" err="1"/>
              <a:t>ugat</a:t>
            </a:r>
            <a:r>
              <a:rPr lang="en-US" i="1"/>
              <a:t>.”</a:t>
            </a:r>
            <a:endParaRPr lang="hu-HU"/>
          </a:p>
          <a:p>
            <a:pPr marL="285750" indent="-285750">
              <a:buFont typeface="Arial"/>
              <a:buChar char="•"/>
            </a:pPr>
            <a:r>
              <a:rPr lang="en-US" err="1"/>
              <a:t>Tokenek</a:t>
            </a:r>
            <a:r>
              <a:rPr lang="en-US"/>
              <a:t>: „A” | „</a:t>
            </a:r>
            <a:r>
              <a:rPr lang="en-US" err="1"/>
              <a:t>kutya</a:t>
            </a:r>
            <a:r>
              <a:rPr lang="en-US"/>
              <a:t>” | „</a:t>
            </a:r>
            <a:r>
              <a:rPr lang="en-US" err="1"/>
              <a:t>ugat</a:t>
            </a:r>
            <a:r>
              <a:rPr lang="en-US"/>
              <a:t>” | „.”</a:t>
            </a:r>
            <a:endParaRPr lang="hu-HU"/>
          </a:p>
          <a:p>
            <a:pPr marL="285750" indent="-285750">
              <a:buFont typeface="Arial"/>
              <a:buChar char="•"/>
            </a:pPr>
            <a:r>
              <a:rPr lang="en-US" b="1" err="1"/>
              <a:t>Példa</a:t>
            </a:r>
            <a:r>
              <a:rPr lang="en-US" b="1"/>
              <a:t>: </a:t>
            </a:r>
            <a:r>
              <a:rPr lang="en-US" err="1"/>
              <a:t>egész</a:t>
            </a:r>
            <a:r>
              <a:rPr lang="en-US"/>
              <a:t> </a:t>
            </a:r>
            <a:r>
              <a:rPr lang="en-US" err="1"/>
              <a:t>szó</a:t>
            </a:r>
            <a:r>
              <a:rPr lang="en-US"/>
              <a:t> </a:t>
            </a:r>
            <a:r>
              <a:rPr lang="en-US" err="1"/>
              <a:t>tokenként</a:t>
            </a:r>
            <a:endParaRPr lang="hu-HU" err="1"/>
          </a:p>
          <a:p>
            <a:pPr marL="285750" indent="-285750">
              <a:buFont typeface="Arial"/>
              <a:buChar char="•"/>
            </a:pPr>
            <a:r>
              <a:rPr lang="en-US" b="1" err="1"/>
              <a:t>Hasonlat</a:t>
            </a:r>
            <a:r>
              <a:rPr lang="en-US" b="1"/>
              <a:t>:</a:t>
            </a:r>
            <a:endParaRPr lang="hu-HU"/>
          </a:p>
          <a:p>
            <a:pPr marL="285750" indent="-285750">
              <a:buFont typeface="Arial"/>
              <a:buChar char="•"/>
            </a:pPr>
            <a:r>
              <a:rPr lang="en-US" err="1"/>
              <a:t>Gondoljunk</a:t>
            </a:r>
            <a:r>
              <a:rPr lang="en-US"/>
              <a:t> </a:t>
            </a:r>
            <a:r>
              <a:rPr lang="en-US" err="1"/>
              <a:t>egy</a:t>
            </a:r>
            <a:r>
              <a:rPr lang="en-US"/>
              <a:t> puzzle-re. Mi </a:t>
            </a:r>
            <a:r>
              <a:rPr lang="en-US" err="1"/>
              <a:t>egyben</a:t>
            </a:r>
            <a:r>
              <a:rPr lang="en-US"/>
              <a:t> </a:t>
            </a:r>
            <a:r>
              <a:rPr lang="en-US" err="1"/>
              <a:t>látjuk</a:t>
            </a:r>
            <a:r>
              <a:rPr lang="en-US"/>
              <a:t> a </a:t>
            </a:r>
            <a:r>
              <a:rPr lang="en-US" err="1"/>
              <a:t>képet</a:t>
            </a:r>
            <a:r>
              <a:rPr lang="en-US"/>
              <a:t>, </a:t>
            </a:r>
            <a:r>
              <a:rPr lang="en-US" err="1"/>
              <a:t>az</a:t>
            </a:r>
            <a:r>
              <a:rPr lang="en-US"/>
              <a:t> MI </a:t>
            </a:r>
            <a:r>
              <a:rPr lang="en-US" err="1"/>
              <a:t>viszont</a:t>
            </a:r>
            <a:r>
              <a:rPr lang="en-US"/>
              <a:t> </a:t>
            </a:r>
            <a:r>
              <a:rPr lang="en-US" err="1"/>
              <a:t>csak</a:t>
            </a:r>
            <a:r>
              <a:rPr lang="en-US"/>
              <a:t> a </a:t>
            </a:r>
            <a:r>
              <a:rPr lang="en-US" err="1"/>
              <a:t>kis</a:t>
            </a:r>
            <a:r>
              <a:rPr lang="en-US"/>
              <a:t> </a:t>
            </a:r>
            <a:r>
              <a:rPr lang="en-US" err="1"/>
              <a:t>darabokat</a:t>
            </a:r>
            <a:r>
              <a:rPr lang="en-US"/>
              <a:t> </a:t>
            </a:r>
            <a:r>
              <a:rPr lang="en-US" err="1"/>
              <a:t>rakosgatja</a:t>
            </a:r>
            <a:r>
              <a:rPr lang="en-US"/>
              <a:t> </a:t>
            </a:r>
            <a:r>
              <a:rPr lang="en-US" err="1"/>
              <a:t>össze</a:t>
            </a:r>
            <a:r>
              <a:rPr lang="en-US"/>
              <a:t>, </a:t>
            </a:r>
            <a:r>
              <a:rPr lang="en-US" err="1"/>
              <a:t>hogy</a:t>
            </a:r>
            <a:r>
              <a:rPr lang="en-US"/>
              <a:t> </a:t>
            </a:r>
            <a:r>
              <a:rPr lang="en-US" err="1"/>
              <a:t>kitalálja</a:t>
            </a:r>
            <a:r>
              <a:rPr lang="en-US"/>
              <a:t>, mi </a:t>
            </a:r>
            <a:r>
              <a:rPr lang="en-US" err="1"/>
              <a:t>jön</a:t>
            </a:r>
            <a:r>
              <a:rPr lang="en-US"/>
              <a:t> a </a:t>
            </a:r>
            <a:r>
              <a:rPr lang="en-US" err="1"/>
              <a:t>következőnek</a:t>
            </a:r>
            <a:r>
              <a:rPr lang="en-US"/>
              <a:t>.</a:t>
            </a:r>
            <a:endParaRPr lang="hu-HU"/>
          </a:p>
          <a:p>
            <a:pPr marL="285750" indent="-285750">
              <a:buFont typeface="Arial"/>
              <a:buChar char="•"/>
            </a:pPr>
            <a:r>
              <a:rPr lang="en-US" b="1" err="1"/>
              <a:t>Kulcsgondolat</a:t>
            </a:r>
            <a:r>
              <a:rPr lang="en-US" b="1"/>
              <a:t>:</a:t>
            </a:r>
            <a:r>
              <a:rPr lang="en-US"/>
              <a:t> Az MI </a:t>
            </a:r>
            <a:r>
              <a:rPr lang="en-US" err="1"/>
              <a:t>nem</a:t>
            </a:r>
            <a:r>
              <a:rPr lang="en-US"/>
              <a:t> </a:t>
            </a:r>
            <a:r>
              <a:rPr lang="en-US" err="1"/>
              <a:t>érti</a:t>
            </a:r>
            <a:r>
              <a:rPr lang="en-US"/>
              <a:t> a </a:t>
            </a:r>
            <a:r>
              <a:rPr lang="en-US" err="1"/>
              <a:t>mondatot</a:t>
            </a:r>
            <a:r>
              <a:rPr lang="en-US"/>
              <a:t>, </a:t>
            </a:r>
            <a:r>
              <a:rPr lang="en-US" err="1"/>
              <a:t>hanem</a:t>
            </a:r>
            <a:r>
              <a:rPr lang="en-US"/>
              <a:t> </a:t>
            </a:r>
            <a:r>
              <a:rPr lang="en-US" err="1"/>
              <a:t>apró</a:t>
            </a:r>
            <a:r>
              <a:rPr lang="en-US"/>
              <a:t> </a:t>
            </a:r>
            <a:r>
              <a:rPr lang="en-US" err="1"/>
              <a:t>részeket</a:t>
            </a:r>
            <a:r>
              <a:rPr lang="en-US"/>
              <a:t> </a:t>
            </a:r>
            <a:r>
              <a:rPr lang="en-US" err="1"/>
              <a:t>számol</a:t>
            </a:r>
            <a:r>
              <a:rPr lang="en-US"/>
              <a:t>, </a:t>
            </a:r>
            <a:r>
              <a:rPr lang="en-US" err="1"/>
              <a:t>és</a:t>
            </a:r>
            <a:r>
              <a:rPr lang="en-US"/>
              <a:t> </a:t>
            </a:r>
            <a:r>
              <a:rPr lang="en-US" err="1"/>
              <a:t>abból</a:t>
            </a:r>
            <a:r>
              <a:rPr lang="en-US"/>
              <a:t> </a:t>
            </a:r>
            <a:r>
              <a:rPr lang="en-US" err="1"/>
              <a:t>próbálja</a:t>
            </a:r>
            <a:r>
              <a:rPr lang="en-US"/>
              <a:t> </a:t>
            </a:r>
            <a:r>
              <a:rPr lang="en-US" err="1"/>
              <a:t>kitalálni</a:t>
            </a:r>
            <a:r>
              <a:rPr lang="en-US"/>
              <a:t> a </a:t>
            </a:r>
            <a:r>
              <a:rPr lang="en-US" err="1"/>
              <a:t>következő</a:t>
            </a:r>
            <a:r>
              <a:rPr lang="en-US"/>
              <a:t> </a:t>
            </a:r>
            <a:r>
              <a:rPr lang="en-US" err="1"/>
              <a:t>részt</a:t>
            </a:r>
            <a:r>
              <a:rPr lang="en-US"/>
              <a:t>.</a:t>
            </a:r>
            <a:endParaRPr lang="hu-HU"/>
          </a:p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B1DAE1-856A-4075-989B-2C988F895DE3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56532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err="1"/>
              <a:t>Statisztikai</a:t>
            </a:r>
            <a:r>
              <a:rPr lang="en-GB" b="1"/>
              <a:t> </a:t>
            </a:r>
            <a:r>
              <a:rPr lang="en-GB" b="1" err="1"/>
              <a:t>előrejelzés</a:t>
            </a:r>
            <a:r>
              <a:rPr lang="en-GB" b="1"/>
              <a:t>:</a:t>
            </a:r>
            <a:endParaRPr lang="hu-HU"/>
          </a:p>
          <a:p>
            <a:pPr marL="171450" indent="-171450">
              <a:buFont typeface="Arial"/>
              <a:buChar char="•"/>
            </a:pPr>
            <a:r>
              <a:rPr lang="en-GB"/>
              <a:t>A </a:t>
            </a:r>
            <a:r>
              <a:rPr lang="en-GB" err="1"/>
              <a:t>modellek</a:t>
            </a:r>
            <a:r>
              <a:rPr lang="en-GB"/>
              <a:t> </a:t>
            </a:r>
            <a:r>
              <a:rPr lang="en-GB" err="1"/>
              <a:t>nem</a:t>
            </a:r>
            <a:r>
              <a:rPr lang="en-GB"/>
              <a:t> </a:t>
            </a:r>
            <a:r>
              <a:rPr lang="en-GB" err="1"/>
              <a:t>tudják</a:t>
            </a:r>
            <a:r>
              <a:rPr lang="en-GB"/>
              <a:t>, „mi </a:t>
            </a:r>
            <a:r>
              <a:rPr lang="en-GB" err="1"/>
              <a:t>az</a:t>
            </a:r>
            <a:r>
              <a:rPr lang="en-GB"/>
              <a:t> </a:t>
            </a:r>
            <a:r>
              <a:rPr lang="en-GB" err="1"/>
              <a:t>igazság</a:t>
            </a:r>
            <a:r>
              <a:rPr lang="en-GB"/>
              <a:t>”. </a:t>
            </a:r>
            <a:r>
              <a:rPr lang="en-GB" err="1"/>
              <a:t>Azt</a:t>
            </a:r>
            <a:r>
              <a:rPr lang="en-GB"/>
              <a:t> </a:t>
            </a:r>
            <a:r>
              <a:rPr lang="en-GB" err="1"/>
              <a:t>számolják</a:t>
            </a:r>
            <a:r>
              <a:rPr lang="en-GB"/>
              <a:t> ki, </a:t>
            </a:r>
            <a:r>
              <a:rPr lang="en-GB" err="1"/>
              <a:t>hogy</a:t>
            </a:r>
            <a:r>
              <a:rPr lang="en-GB"/>
              <a:t> </a:t>
            </a:r>
            <a:r>
              <a:rPr lang="en-GB" err="1"/>
              <a:t>egy</a:t>
            </a:r>
            <a:r>
              <a:rPr lang="en-GB"/>
              <a:t> </a:t>
            </a:r>
            <a:r>
              <a:rPr lang="en-GB" err="1"/>
              <a:t>szó</a:t>
            </a:r>
            <a:r>
              <a:rPr lang="en-GB"/>
              <a:t> </a:t>
            </a:r>
            <a:r>
              <a:rPr lang="en-GB" err="1"/>
              <a:t>után</a:t>
            </a:r>
            <a:r>
              <a:rPr lang="en-GB"/>
              <a:t> </a:t>
            </a:r>
            <a:r>
              <a:rPr lang="en-GB" err="1"/>
              <a:t>melyik</a:t>
            </a:r>
            <a:r>
              <a:rPr lang="en-GB"/>
              <a:t> </a:t>
            </a:r>
            <a:r>
              <a:rPr lang="en-GB" err="1"/>
              <a:t>szó</a:t>
            </a:r>
            <a:r>
              <a:rPr lang="en-GB"/>
              <a:t> a </a:t>
            </a:r>
            <a:r>
              <a:rPr lang="en-GB" err="1"/>
              <a:t>legvalószínűbb</a:t>
            </a:r>
            <a:r>
              <a:rPr lang="en-GB"/>
              <a:t>.</a:t>
            </a:r>
          </a:p>
          <a:p>
            <a:pPr marL="171450" indent="-171450">
              <a:buFont typeface="Arial"/>
              <a:buChar char="•"/>
            </a:pPr>
            <a:r>
              <a:rPr lang="en-GB"/>
              <a:t>Pl. „A </a:t>
            </a:r>
            <a:r>
              <a:rPr lang="en-GB" err="1"/>
              <a:t>macska</a:t>
            </a:r>
            <a:r>
              <a:rPr lang="en-GB"/>
              <a:t> </a:t>
            </a:r>
            <a:r>
              <a:rPr lang="en-GB" err="1"/>
              <a:t>felmászott</a:t>
            </a:r>
            <a:r>
              <a:rPr lang="en-GB"/>
              <a:t> a …” → a </a:t>
            </a:r>
            <a:r>
              <a:rPr lang="en-GB" err="1"/>
              <a:t>legvalószínűbb</a:t>
            </a:r>
            <a:r>
              <a:rPr lang="en-GB"/>
              <a:t> </a:t>
            </a:r>
            <a:r>
              <a:rPr lang="en-GB" err="1"/>
              <a:t>folytatás</a:t>
            </a:r>
            <a:r>
              <a:rPr lang="en-GB"/>
              <a:t>: </a:t>
            </a:r>
            <a:r>
              <a:rPr lang="en-GB" i="1"/>
              <a:t>„</a:t>
            </a:r>
            <a:r>
              <a:rPr lang="en-GB" i="1" err="1"/>
              <a:t>fára</a:t>
            </a:r>
            <a:r>
              <a:rPr lang="en-GB" i="1"/>
              <a:t>”</a:t>
            </a:r>
            <a:r>
              <a:rPr lang="en-GB"/>
              <a:t>.</a:t>
            </a:r>
          </a:p>
          <a:p>
            <a:pPr marL="171450" indent="-171450">
              <a:buFont typeface="Arial"/>
              <a:buChar char="•"/>
            </a:pPr>
            <a:r>
              <a:rPr lang="en-GB" err="1"/>
              <a:t>Ezért</a:t>
            </a:r>
            <a:r>
              <a:rPr lang="en-GB"/>
              <a:t> </a:t>
            </a:r>
            <a:r>
              <a:rPr lang="en-GB" err="1"/>
              <a:t>adhat</a:t>
            </a:r>
            <a:r>
              <a:rPr lang="en-GB"/>
              <a:t> </a:t>
            </a:r>
            <a:r>
              <a:rPr lang="en-GB" err="1"/>
              <a:t>néha</a:t>
            </a:r>
            <a:r>
              <a:rPr lang="en-GB"/>
              <a:t> </a:t>
            </a:r>
            <a:r>
              <a:rPr lang="en-GB" err="1"/>
              <a:t>teljesen</a:t>
            </a:r>
            <a:r>
              <a:rPr lang="en-GB"/>
              <a:t> </a:t>
            </a:r>
            <a:r>
              <a:rPr lang="en-GB" err="1"/>
              <a:t>ésszerű</a:t>
            </a:r>
            <a:r>
              <a:rPr lang="en-GB"/>
              <a:t> </a:t>
            </a:r>
            <a:r>
              <a:rPr lang="en-GB" err="1"/>
              <a:t>választ</a:t>
            </a:r>
            <a:r>
              <a:rPr lang="en-GB"/>
              <a:t>, </a:t>
            </a:r>
            <a:r>
              <a:rPr lang="en-GB" err="1"/>
              <a:t>máskor</a:t>
            </a:r>
            <a:r>
              <a:rPr lang="en-GB"/>
              <a:t> </a:t>
            </a:r>
            <a:r>
              <a:rPr lang="en-GB" err="1"/>
              <a:t>pedig</a:t>
            </a:r>
            <a:r>
              <a:rPr lang="en-GB"/>
              <a:t> </a:t>
            </a:r>
            <a:r>
              <a:rPr lang="en-GB" err="1"/>
              <a:t>teljes</a:t>
            </a:r>
            <a:r>
              <a:rPr lang="en-GB"/>
              <a:t> </a:t>
            </a:r>
            <a:r>
              <a:rPr lang="en-GB" err="1"/>
              <a:t>butaságot</a:t>
            </a:r>
            <a:r>
              <a:rPr lang="en-GB"/>
              <a:t>.</a:t>
            </a:r>
          </a:p>
          <a:p>
            <a:pPr marL="0" indent="0">
              <a:buFontTx/>
              <a:buNone/>
            </a:pPr>
            <a:endParaRPr lang="en-GB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B1DAE1-856A-4075-989B-2C988F895DE3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65022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err="1"/>
              <a:t>Tanulás</a:t>
            </a:r>
            <a:r>
              <a:rPr lang="en-US" b="1"/>
              <a:t> </a:t>
            </a:r>
            <a:r>
              <a:rPr lang="en-US" b="1" err="1"/>
              <a:t>sok</a:t>
            </a:r>
            <a:r>
              <a:rPr lang="en-US" b="1"/>
              <a:t> </a:t>
            </a:r>
            <a:r>
              <a:rPr lang="en-US" b="1" err="1"/>
              <a:t>szövegből</a:t>
            </a:r>
            <a:r>
              <a:rPr lang="en-US" b="1"/>
              <a:t>:</a:t>
            </a:r>
            <a:endParaRPr lang="hu-HU"/>
          </a:p>
          <a:p>
            <a:pPr marL="171450" indent="-171450">
              <a:buFont typeface="Arial"/>
              <a:buChar char="•"/>
            </a:pPr>
            <a:r>
              <a:rPr lang="en-US"/>
              <a:t>A ChatGPT korai </a:t>
            </a:r>
            <a:r>
              <a:rPr lang="en-US" err="1"/>
              <a:t>verzióit</a:t>
            </a:r>
            <a:r>
              <a:rPr lang="en-US"/>
              <a:t> </a:t>
            </a:r>
            <a:r>
              <a:rPr lang="en-US" err="1"/>
              <a:t>több</a:t>
            </a:r>
            <a:r>
              <a:rPr lang="en-US"/>
              <a:t> </a:t>
            </a:r>
            <a:r>
              <a:rPr lang="en-US" err="1"/>
              <a:t>milliárd</a:t>
            </a:r>
            <a:r>
              <a:rPr lang="en-US"/>
              <a:t> </a:t>
            </a:r>
            <a:r>
              <a:rPr lang="en-US" err="1"/>
              <a:t>mondaton</a:t>
            </a:r>
            <a:r>
              <a:rPr lang="en-US"/>
              <a:t> </a:t>
            </a:r>
            <a:r>
              <a:rPr lang="en-US" err="1"/>
              <a:t>tanították</a:t>
            </a:r>
            <a:r>
              <a:rPr lang="en-US"/>
              <a:t>.</a:t>
            </a:r>
          </a:p>
          <a:p>
            <a:pPr marL="171450" indent="-171450">
              <a:buFont typeface="Arial"/>
              <a:buChar char="•"/>
            </a:pPr>
            <a:r>
              <a:rPr lang="en-US" err="1"/>
              <a:t>Forrásai</a:t>
            </a:r>
            <a:r>
              <a:rPr lang="en-US"/>
              <a:t> </a:t>
            </a:r>
            <a:r>
              <a:rPr lang="en-US" err="1"/>
              <a:t>között</a:t>
            </a:r>
            <a:r>
              <a:rPr lang="en-US"/>
              <a:t> volt a </a:t>
            </a:r>
            <a:r>
              <a:rPr lang="en-US" b="1"/>
              <a:t>Reddit</a:t>
            </a:r>
            <a:r>
              <a:rPr lang="en-US"/>
              <a:t> is, </a:t>
            </a:r>
            <a:r>
              <a:rPr lang="en-US" err="1"/>
              <a:t>ami</a:t>
            </a:r>
            <a:r>
              <a:rPr lang="en-US"/>
              <a:t> </a:t>
            </a:r>
            <a:r>
              <a:rPr lang="en-US" err="1"/>
              <a:t>egy</a:t>
            </a:r>
            <a:r>
              <a:rPr lang="en-US"/>
              <a:t> </a:t>
            </a:r>
            <a:r>
              <a:rPr lang="en-US" err="1"/>
              <a:t>fórum</a:t>
            </a:r>
            <a:r>
              <a:rPr lang="en-US"/>
              <a:t>, </a:t>
            </a:r>
            <a:r>
              <a:rPr lang="en-US" err="1"/>
              <a:t>ahol</a:t>
            </a:r>
            <a:r>
              <a:rPr lang="en-US"/>
              <a:t> </a:t>
            </a:r>
            <a:r>
              <a:rPr lang="en-US" err="1"/>
              <a:t>bárki</a:t>
            </a:r>
            <a:r>
              <a:rPr lang="en-US"/>
              <a:t> </a:t>
            </a:r>
            <a:r>
              <a:rPr lang="en-US" err="1"/>
              <a:t>írhat</a:t>
            </a:r>
            <a:r>
              <a:rPr lang="en-US"/>
              <a:t> </a:t>
            </a:r>
            <a:r>
              <a:rPr lang="en-US" err="1"/>
              <a:t>bármiről</a:t>
            </a:r>
            <a:r>
              <a:rPr lang="en-US"/>
              <a:t> </a:t>
            </a:r>
            <a:r>
              <a:rPr lang="en-US" err="1"/>
              <a:t>bármit</a:t>
            </a:r>
            <a:r>
              <a:rPr lang="en-US"/>
              <a:t>.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Ez </a:t>
            </a:r>
            <a:r>
              <a:rPr lang="en-US" err="1"/>
              <a:t>segített</a:t>
            </a:r>
            <a:r>
              <a:rPr lang="en-US"/>
              <a:t> a </a:t>
            </a:r>
            <a:r>
              <a:rPr lang="en-US" err="1"/>
              <a:t>modellnek</a:t>
            </a:r>
            <a:r>
              <a:rPr lang="en-US"/>
              <a:t> </a:t>
            </a:r>
            <a:r>
              <a:rPr lang="en-US" err="1"/>
              <a:t>megtanulni</a:t>
            </a:r>
            <a:r>
              <a:rPr lang="en-US"/>
              <a:t> a </a:t>
            </a:r>
            <a:r>
              <a:rPr lang="en-US" err="1"/>
              <a:t>hétköznapi</a:t>
            </a:r>
            <a:r>
              <a:rPr lang="en-US"/>
              <a:t> </a:t>
            </a:r>
            <a:r>
              <a:rPr lang="en-US" err="1"/>
              <a:t>beszélgetést</a:t>
            </a:r>
            <a:r>
              <a:rPr lang="en-US"/>
              <a:t>, de volt </a:t>
            </a:r>
            <a:r>
              <a:rPr lang="en-US" err="1"/>
              <a:t>egy</a:t>
            </a:r>
            <a:r>
              <a:rPr lang="en-US"/>
              <a:t> </a:t>
            </a:r>
            <a:r>
              <a:rPr lang="en-US" err="1"/>
              <a:t>gond</a:t>
            </a:r>
            <a:r>
              <a:rPr lang="en-US"/>
              <a:t> is: a </a:t>
            </a:r>
            <a:r>
              <a:rPr lang="en-US" err="1"/>
              <a:t>Redditen</a:t>
            </a:r>
            <a:r>
              <a:rPr lang="en-US"/>
              <a:t> </a:t>
            </a:r>
            <a:r>
              <a:rPr lang="en-US" err="1"/>
              <a:t>sok</a:t>
            </a:r>
            <a:r>
              <a:rPr lang="en-US"/>
              <a:t> </a:t>
            </a:r>
            <a:r>
              <a:rPr lang="en-US" b="1" err="1"/>
              <a:t>pontatlan</a:t>
            </a:r>
            <a:r>
              <a:rPr lang="en-US" b="1"/>
              <a:t> </a:t>
            </a:r>
            <a:r>
              <a:rPr lang="en-US" b="1" err="1"/>
              <a:t>információ</a:t>
            </a:r>
            <a:r>
              <a:rPr lang="en-US" b="1"/>
              <a:t>, </a:t>
            </a:r>
            <a:r>
              <a:rPr lang="en-US" b="1" err="1"/>
              <a:t>vicces</a:t>
            </a:r>
            <a:r>
              <a:rPr lang="en-US" b="1"/>
              <a:t> </a:t>
            </a:r>
            <a:r>
              <a:rPr lang="en-US" b="1" err="1"/>
              <a:t>túlzás</a:t>
            </a:r>
            <a:r>
              <a:rPr lang="en-US" b="1"/>
              <a:t> </a:t>
            </a:r>
            <a:r>
              <a:rPr lang="en-US" b="1" err="1"/>
              <a:t>és</a:t>
            </a:r>
            <a:r>
              <a:rPr lang="en-US" b="1"/>
              <a:t> </a:t>
            </a:r>
            <a:r>
              <a:rPr lang="en-US" b="1" err="1"/>
              <a:t>szleng</a:t>
            </a:r>
            <a:r>
              <a:rPr lang="en-US"/>
              <a:t> is van.</a:t>
            </a:r>
          </a:p>
          <a:p>
            <a:pPr marL="171450" indent="-171450">
              <a:buFont typeface="Arial"/>
              <a:buChar char="•"/>
            </a:pPr>
            <a:r>
              <a:rPr lang="en-US" i="1"/>
              <a:t>A </a:t>
            </a:r>
            <a:r>
              <a:rPr lang="en-US" i="1" err="1"/>
              <a:t>régi</a:t>
            </a:r>
            <a:r>
              <a:rPr lang="en-US" i="1"/>
              <a:t> </a:t>
            </a:r>
            <a:r>
              <a:rPr lang="en-US" i="1" err="1"/>
              <a:t>chatGPT</a:t>
            </a:r>
            <a:r>
              <a:rPr lang="en-US" i="1"/>
              <a:t> </a:t>
            </a:r>
            <a:r>
              <a:rPr lang="en-US" i="1" err="1"/>
              <a:t>elsődlegesen</a:t>
            </a:r>
            <a:r>
              <a:rPr lang="en-US" i="1"/>
              <a:t> a </a:t>
            </a:r>
            <a:r>
              <a:rPr lang="en-US" i="1" err="1"/>
              <a:t>fórumon</a:t>
            </a:r>
            <a:r>
              <a:rPr lang="en-US" i="1"/>
              <a:t> </a:t>
            </a:r>
            <a:r>
              <a:rPr lang="en-US" i="1" err="1"/>
              <a:t>fellelhető</a:t>
            </a:r>
            <a:r>
              <a:rPr lang="en-US" i="1"/>
              <a:t> </a:t>
            </a:r>
            <a:r>
              <a:rPr lang="en-US" i="1" err="1"/>
              <a:t>megosztott</a:t>
            </a:r>
            <a:r>
              <a:rPr lang="en-US" i="1"/>
              <a:t> </a:t>
            </a:r>
            <a:r>
              <a:rPr lang="en-US" i="1" err="1"/>
              <a:t>linkeket</a:t>
            </a:r>
            <a:r>
              <a:rPr lang="en-US" i="1"/>
              <a:t> </a:t>
            </a:r>
            <a:r>
              <a:rPr lang="en-US" i="1" err="1"/>
              <a:t>használta</a:t>
            </a:r>
            <a:r>
              <a:rPr lang="en-US" i="1"/>
              <a:t> a </a:t>
            </a:r>
            <a:r>
              <a:rPr lang="en-US" i="1" err="1"/>
              <a:t>tanulása</a:t>
            </a:r>
            <a:r>
              <a:rPr lang="en-US" i="1"/>
              <a:t> </a:t>
            </a:r>
            <a:r>
              <a:rPr lang="en-US" i="1" err="1"/>
              <a:t>során</a:t>
            </a:r>
            <a:r>
              <a:rPr lang="en-US" i="1"/>
              <a:t>.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B1DAE1-856A-4075-989B-2C988F895DE3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89884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err="1"/>
              <a:t>Példák</a:t>
            </a:r>
            <a:r>
              <a:rPr lang="en-US" b="1"/>
              <a:t>:</a:t>
            </a:r>
            <a:endParaRPr lang="hu-HU"/>
          </a:p>
          <a:p>
            <a:pPr marL="285750" indent="-285750">
              <a:buFont typeface="Arial"/>
              <a:buChar char="•"/>
            </a:pPr>
            <a:r>
              <a:rPr lang="en-US" err="1"/>
              <a:t>Redditen</a:t>
            </a:r>
            <a:r>
              <a:rPr lang="en-US"/>
              <a:t> </a:t>
            </a:r>
            <a:r>
              <a:rPr lang="en-US" err="1"/>
              <a:t>gyakran</a:t>
            </a:r>
            <a:r>
              <a:rPr lang="en-US"/>
              <a:t> </a:t>
            </a:r>
            <a:r>
              <a:rPr lang="en-US" err="1"/>
              <a:t>téma</a:t>
            </a:r>
            <a:r>
              <a:rPr lang="en-US"/>
              <a:t> </a:t>
            </a:r>
            <a:r>
              <a:rPr lang="en-US" err="1"/>
              <a:t>az</a:t>
            </a:r>
            <a:r>
              <a:rPr lang="en-US"/>
              <a:t> </a:t>
            </a:r>
            <a:r>
              <a:rPr lang="en-US" err="1"/>
              <a:t>állatok</a:t>
            </a:r>
            <a:r>
              <a:rPr lang="en-US"/>
              <a:t> </a:t>
            </a:r>
            <a:r>
              <a:rPr lang="en-US" err="1"/>
              <a:t>viselkedése</a:t>
            </a:r>
            <a:r>
              <a:rPr lang="en-US"/>
              <a:t>: </a:t>
            </a:r>
            <a:r>
              <a:rPr lang="en-US" i="1"/>
              <a:t>„A </a:t>
            </a:r>
            <a:r>
              <a:rPr lang="en-US" i="1" err="1"/>
              <a:t>macska</a:t>
            </a:r>
            <a:r>
              <a:rPr lang="en-US" i="1"/>
              <a:t> </a:t>
            </a:r>
            <a:r>
              <a:rPr lang="en-US" i="1" err="1"/>
              <a:t>mindig</a:t>
            </a:r>
            <a:r>
              <a:rPr lang="en-US" i="1"/>
              <a:t> </a:t>
            </a:r>
            <a:r>
              <a:rPr lang="en-US" i="1" err="1"/>
              <a:t>gonosz</a:t>
            </a:r>
            <a:r>
              <a:rPr lang="en-US" i="1"/>
              <a:t>, a </a:t>
            </a:r>
            <a:r>
              <a:rPr lang="en-US" i="1" err="1"/>
              <a:t>kutya</a:t>
            </a:r>
            <a:r>
              <a:rPr lang="en-US" i="1"/>
              <a:t> </a:t>
            </a:r>
            <a:r>
              <a:rPr lang="en-US" i="1" err="1"/>
              <a:t>mindig</a:t>
            </a:r>
            <a:r>
              <a:rPr lang="en-US" i="1"/>
              <a:t> </a:t>
            </a:r>
            <a:r>
              <a:rPr lang="en-US" i="1" err="1"/>
              <a:t>jó</a:t>
            </a:r>
            <a:r>
              <a:rPr lang="en-US" i="1"/>
              <a:t>.”</a:t>
            </a:r>
            <a:endParaRPr lang="hu-HU"/>
          </a:p>
          <a:p>
            <a:pPr marL="285750" indent="-285750">
              <a:buFont typeface="Arial"/>
              <a:buChar char="•"/>
            </a:pPr>
            <a:r>
              <a:rPr lang="en-US"/>
              <a:t>A </a:t>
            </a:r>
            <a:r>
              <a:rPr lang="en-US" err="1"/>
              <a:t>modell</a:t>
            </a:r>
            <a:r>
              <a:rPr lang="en-US"/>
              <a:t> </a:t>
            </a:r>
            <a:r>
              <a:rPr lang="en-US" err="1"/>
              <a:t>elkezdte</a:t>
            </a:r>
            <a:r>
              <a:rPr lang="en-US"/>
              <a:t> </a:t>
            </a:r>
            <a:r>
              <a:rPr lang="en-US" err="1"/>
              <a:t>néha</a:t>
            </a:r>
            <a:r>
              <a:rPr lang="en-US"/>
              <a:t> </a:t>
            </a:r>
            <a:r>
              <a:rPr lang="en-US" err="1"/>
              <a:t>ezt</a:t>
            </a:r>
            <a:r>
              <a:rPr lang="en-US"/>
              <a:t> a </a:t>
            </a:r>
            <a:r>
              <a:rPr lang="en-US" err="1"/>
              <a:t>sztereotípiát</a:t>
            </a:r>
            <a:r>
              <a:rPr lang="en-US"/>
              <a:t> </a:t>
            </a:r>
            <a:r>
              <a:rPr lang="en-US" err="1"/>
              <a:t>ismételni</a:t>
            </a:r>
            <a:r>
              <a:rPr lang="en-US"/>
              <a:t> → </a:t>
            </a:r>
            <a:r>
              <a:rPr lang="en-US" err="1"/>
              <a:t>torzítás</a:t>
            </a:r>
            <a:r>
              <a:rPr lang="en-US"/>
              <a:t>.</a:t>
            </a:r>
            <a:endParaRPr lang="hu-HU"/>
          </a:p>
          <a:p>
            <a:pPr marL="285750" indent="-285750">
              <a:buFont typeface="Arial"/>
              <a:buChar char="•"/>
            </a:pPr>
            <a:r>
              <a:rPr lang="en-US"/>
              <a:t>Reddit </a:t>
            </a:r>
            <a:r>
              <a:rPr lang="en-US" err="1"/>
              <a:t>felhasználók</a:t>
            </a:r>
            <a:r>
              <a:rPr lang="en-US"/>
              <a:t> </a:t>
            </a:r>
            <a:r>
              <a:rPr lang="en-US" err="1"/>
              <a:t>néha</a:t>
            </a:r>
            <a:r>
              <a:rPr lang="en-US"/>
              <a:t> </a:t>
            </a:r>
            <a:r>
              <a:rPr lang="en-US" err="1"/>
              <a:t>álhíreket</a:t>
            </a:r>
            <a:r>
              <a:rPr lang="en-US"/>
              <a:t> </a:t>
            </a:r>
            <a:r>
              <a:rPr lang="en-US" err="1"/>
              <a:t>terjesztettek</a:t>
            </a:r>
            <a:r>
              <a:rPr lang="en-US"/>
              <a:t>, </a:t>
            </a:r>
            <a:r>
              <a:rPr lang="en-US" err="1"/>
              <a:t>és</a:t>
            </a:r>
            <a:r>
              <a:rPr lang="en-US"/>
              <a:t> </a:t>
            </a:r>
            <a:r>
              <a:rPr lang="en-US" err="1"/>
              <a:t>az</a:t>
            </a:r>
            <a:r>
              <a:rPr lang="en-US"/>
              <a:t> MI </a:t>
            </a:r>
            <a:r>
              <a:rPr lang="en-US" err="1"/>
              <a:t>megtanulta</a:t>
            </a:r>
            <a:r>
              <a:rPr lang="en-US"/>
              <a:t> a </a:t>
            </a:r>
            <a:r>
              <a:rPr lang="en-US" err="1"/>
              <a:t>stílust</a:t>
            </a:r>
            <a:r>
              <a:rPr lang="en-US"/>
              <a:t> → </a:t>
            </a:r>
            <a:r>
              <a:rPr lang="en-US" err="1"/>
              <a:t>előfordult</a:t>
            </a:r>
            <a:r>
              <a:rPr lang="en-US"/>
              <a:t>, </a:t>
            </a:r>
            <a:r>
              <a:rPr lang="en-US" err="1"/>
              <a:t>hogy</a:t>
            </a:r>
            <a:r>
              <a:rPr lang="en-US"/>
              <a:t> a chatbot </a:t>
            </a:r>
            <a:r>
              <a:rPr lang="en-US" err="1"/>
              <a:t>hasonló</a:t>
            </a:r>
            <a:r>
              <a:rPr lang="en-US"/>
              <a:t> </a:t>
            </a:r>
            <a:r>
              <a:rPr lang="en-US" i="1" err="1"/>
              <a:t>álhírszerű</a:t>
            </a:r>
            <a:r>
              <a:rPr lang="en-US"/>
              <a:t> </a:t>
            </a:r>
            <a:r>
              <a:rPr lang="en-US" err="1"/>
              <a:t>választ</a:t>
            </a:r>
            <a:r>
              <a:rPr lang="en-US"/>
              <a:t> </a:t>
            </a:r>
            <a:r>
              <a:rPr lang="en-US" err="1"/>
              <a:t>adott</a:t>
            </a:r>
            <a:r>
              <a:rPr lang="en-US"/>
              <a:t>.</a:t>
            </a:r>
            <a:endParaRPr lang="hu-HU"/>
          </a:p>
          <a:p>
            <a:pPr marL="285750" indent="-285750">
              <a:buFont typeface="Arial"/>
              <a:buChar char="•"/>
            </a:pPr>
            <a:r>
              <a:rPr lang="en-US" err="1"/>
              <a:t>Szleng</a:t>
            </a:r>
            <a:r>
              <a:rPr lang="en-US"/>
              <a:t>: pl. </a:t>
            </a:r>
            <a:r>
              <a:rPr lang="en-US" i="1"/>
              <a:t>„lol, </a:t>
            </a:r>
            <a:r>
              <a:rPr lang="en-US" i="1" err="1"/>
              <a:t>ez</a:t>
            </a:r>
            <a:r>
              <a:rPr lang="en-US" i="1"/>
              <a:t> epic fail”</a:t>
            </a:r>
            <a:r>
              <a:rPr lang="en-US"/>
              <a:t> – a </a:t>
            </a:r>
            <a:r>
              <a:rPr lang="en-US" err="1"/>
              <a:t>modell</a:t>
            </a:r>
            <a:r>
              <a:rPr lang="en-US"/>
              <a:t> </a:t>
            </a:r>
            <a:r>
              <a:rPr lang="en-US" err="1"/>
              <a:t>megtanulta</a:t>
            </a:r>
            <a:r>
              <a:rPr lang="en-US"/>
              <a:t> a </a:t>
            </a:r>
            <a:r>
              <a:rPr lang="en-US" err="1"/>
              <a:t>nyelvezetet</a:t>
            </a:r>
            <a:r>
              <a:rPr lang="en-US"/>
              <a:t>, de </a:t>
            </a:r>
            <a:r>
              <a:rPr lang="en-US" err="1"/>
              <a:t>nem</a:t>
            </a:r>
            <a:r>
              <a:rPr lang="en-US"/>
              <a:t> </a:t>
            </a:r>
            <a:r>
              <a:rPr lang="en-US" err="1"/>
              <a:t>tudta</a:t>
            </a:r>
            <a:r>
              <a:rPr lang="en-US"/>
              <a:t>, </a:t>
            </a:r>
            <a:r>
              <a:rPr lang="en-US" err="1"/>
              <a:t>hogy</a:t>
            </a:r>
            <a:r>
              <a:rPr lang="en-US"/>
              <a:t> </a:t>
            </a:r>
            <a:r>
              <a:rPr lang="en-US" err="1"/>
              <a:t>ez</a:t>
            </a:r>
            <a:r>
              <a:rPr lang="en-US"/>
              <a:t> </a:t>
            </a:r>
            <a:r>
              <a:rPr lang="en-US" err="1"/>
              <a:t>vicc</a:t>
            </a:r>
            <a:r>
              <a:rPr lang="en-US"/>
              <a:t>.</a:t>
            </a:r>
            <a:endParaRPr lang="hu-HU"/>
          </a:p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B1DAE1-856A-4075-989B-2C988F895DE3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34713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Beszélgetés</a:t>
            </a:r>
            <a:r>
              <a:rPr lang="en-US"/>
              <a:t>:</a:t>
            </a:r>
            <a:endParaRPr lang="hu-HU"/>
          </a:p>
          <a:p>
            <a:pPr marL="285750" indent="-285750">
              <a:buFont typeface="Arial"/>
              <a:buChar char="•"/>
            </a:pPr>
            <a:r>
              <a:rPr lang="en-US"/>
              <a:t>Az MI </a:t>
            </a:r>
            <a:r>
              <a:rPr lang="en-US" err="1"/>
              <a:t>tényleg</a:t>
            </a:r>
            <a:r>
              <a:rPr lang="en-US"/>
              <a:t> </a:t>
            </a:r>
            <a:r>
              <a:rPr lang="en-US" err="1"/>
              <a:t>tudja</a:t>
            </a:r>
            <a:r>
              <a:rPr lang="en-US"/>
              <a:t>, </a:t>
            </a:r>
            <a:r>
              <a:rPr lang="en-US" err="1"/>
              <a:t>mit</a:t>
            </a:r>
            <a:r>
              <a:rPr lang="en-US"/>
              <a:t> </a:t>
            </a:r>
            <a:r>
              <a:rPr lang="en-US" err="1"/>
              <a:t>mond</a:t>
            </a:r>
            <a:r>
              <a:rPr lang="en-US"/>
              <a:t>? → Nem, </a:t>
            </a:r>
            <a:r>
              <a:rPr lang="en-US" err="1"/>
              <a:t>csak</a:t>
            </a:r>
            <a:r>
              <a:rPr lang="en-US"/>
              <a:t> </a:t>
            </a:r>
            <a:r>
              <a:rPr lang="en-US" i="1" err="1"/>
              <a:t>valószínű</a:t>
            </a:r>
            <a:r>
              <a:rPr lang="en-US" i="1"/>
              <a:t> </a:t>
            </a:r>
            <a:r>
              <a:rPr lang="en-US" i="1" err="1"/>
              <a:t>szavakat</a:t>
            </a:r>
            <a:r>
              <a:rPr lang="en-US"/>
              <a:t> </a:t>
            </a:r>
            <a:r>
              <a:rPr lang="en-US" err="1"/>
              <a:t>tesz</a:t>
            </a:r>
            <a:r>
              <a:rPr lang="en-US"/>
              <a:t> </a:t>
            </a:r>
            <a:r>
              <a:rPr lang="en-US" err="1"/>
              <a:t>egymás</a:t>
            </a:r>
            <a:r>
              <a:rPr lang="en-US"/>
              <a:t> </a:t>
            </a:r>
            <a:r>
              <a:rPr lang="en-US" err="1"/>
              <a:t>után</a:t>
            </a:r>
            <a:r>
              <a:rPr lang="en-US"/>
              <a:t>.</a:t>
            </a:r>
            <a:endParaRPr lang="hu-HU"/>
          </a:p>
          <a:p>
            <a:pPr marL="285750" indent="-285750">
              <a:buFont typeface="Arial"/>
              <a:buChar char="•"/>
            </a:pPr>
            <a:r>
              <a:rPr lang="en-US" err="1"/>
              <a:t>Miért</a:t>
            </a:r>
            <a:r>
              <a:rPr lang="en-US"/>
              <a:t> </a:t>
            </a:r>
            <a:r>
              <a:rPr lang="en-US" err="1"/>
              <a:t>lehet</a:t>
            </a:r>
            <a:r>
              <a:rPr lang="en-US"/>
              <a:t> </a:t>
            </a:r>
            <a:r>
              <a:rPr lang="en-US" err="1"/>
              <a:t>veszélyes</a:t>
            </a:r>
            <a:r>
              <a:rPr lang="en-US"/>
              <a:t>, ha pl. </a:t>
            </a:r>
            <a:r>
              <a:rPr lang="en-US" err="1"/>
              <a:t>csak</a:t>
            </a:r>
            <a:r>
              <a:rPr lang="en-US"/>
              <a:t> Reddit-</a:t>
            </a:r>
            <a:r>
              <a:rPr lang="en-US" err="1"/>
              <a:t>fórumokról</a:t>
            </a:r>
            <a:r>
              <a:rPr lang="en-US"/>
              <a:t> </a:t>
            </a:r>
            <a:r>
              <a:rPr lang="en-US" err="1"/>
              <a:t>tanul</a:t>
            </a:r>
            <a:r>
              <a:rPr lang="en-US"/>
              <a:t>? → Mert </a:t>
            </a:r>
            <a:r>
              <a:rPr lang="en-US" err="1"/>
              <a:t>ott</a:t>
            </a:r>
            <a:r>
              <a:rPr lang="en-US"/>
              <a:t> </a:t>
            </a:r>
            <a:r>
              <a:rPr lang="en-US" err="1"/>
              <a:t>sok</a:t>
            </a:r>
            <a:r>
              <a:rPr lang="en-US"/>
              <a:t> a </a:t>
            </a:r>
            <a:r>
              <a:rPr lang="en-US" err="1"/>
              <a:t>pontatlan</a:t>
            </a:r>
            <a:r>
              <a:rPr lang="en-US"/>
              <a:t> </a:t>
            </a:r>
            <a:r>
              <a:rPr lang="en-US" err="1"/>
              <a:t>vagy</a:t>
            </a:r>
            <a:r>
              <a:rPr lang="en-US"/>
              <a:t> </a:t>
            </a:r>
            <a:r>
              <a:rPr lang="en-US" err="1"/>
              <a:t>viccesen</a:t>
            </a:r>
            <a:r>
              <a:rPr lang="en-US"/>
              <a:t> </a:t>
            </a:r>
            <a:r>
              <a:rPr lang="en-US" err="1"/>
              <a:t>megfogalmazott</a:t>
            </a:r>
            <a:r>
              <a:rPr lang="en-US"/>
              <a:t> </a:t>
            </a:r>
            <a:r>
              <a:rPr lang="en-US" err="1"/>
              <a:t>információ</a:t>
            </a:r>
            <a:r>
              <a:rPr lang="en-US"/>
              <a:t>.</a:t>
            </a:r>
            <a:endParaRPr lang="hu-HU"/>
          </a:p>
          <a:p>
            <a:pPr marL="285750" indent="-285750">
              <a:buFont typeface="Arial"/>
              <a:buChar char="•"/>
            </a:pPr>
            <a:r>
              <a:rPr lang="en-US"/>
              <a:t>Mit </a:t>
            </a:r>
            <a:r>
              <a:rPr lang="en-US" err="1"/>
              <a:t>kell</a:t>
            </a:r>
            <a:r>
              <a:rPr lang="en-US"/>
              <a:t> </a:t>
            </a:r>
            <a:r>
              <a:rPr lang="en-US" err="1"/>
              <a:t>csinálnunk</a:t>
            </a:r>
            <a:r>
              <a:rPr lang="en-US"/>
              <a:t> a chatbot </a:t>
            </a:r>
            <a:r>
              <a:rPr lang="en-US" err="1"/>
              <a:t>válaszaival</a:t>
            </a:r>
            <a:r>
              <a:rPr lang="en-US"/>
              <a:t>? → </a:t>
            </a:r>
            <a:r>
              <a:rPr lang="en-US" err="1"/>
              <a:t>Ellenőrizni</a:t>
            </a:r>
            <a:r>
              <a:rPr lang="en-US"/>
              <a:t>, </a:t>
            </a:r>
            <a:r>
              <a:rPr lang="en-US" err="1"/>
              <a:t>forrást</a:t>
            </a:r>
            <a:r>
              <a:rPr lang="en-US"/>
              <a:t> </a:t>
            </a:r>
            <a:r>
              <a:rPr lang="en-US" err="1"/>
              <a:t>keresni</a:t>
            </a:r>
            <a:r>
              <a:rPr lang="en-US"/>
              <a:t>.</a:t>
            </a:r>
            <a:endParaRPr lang="hu-HU"/>
          </a:p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B1DAE1-856A-4075-989B-2C988F895DE3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4341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A430653-BF72-882E-F761-8954BB0C36C4}"/>
              </a:ext>
            </a:extLst>
          </p:cNvPr>
          <p:cNvSpPr/>
          <p:nvPr userDrawn="1"/>
        </p:nvSpPr>
        <p:spPr>
          <a:xfrm>
            <a:off x="0" y="5334000"/>
            <a:ext cx="1524000" cy="1524000"/>
          </a:xfrm>
          <a:custGeom>
            <a:avLst/>
            <a:gdLst>
              <a:gd name="connsiteX0" fmla="*/ 0 w 1524000"/>
              <a:gd name="connsiteY0" fmla="*/ 0 h 1524000"/>
              <a:gd name="connsiteX1" fmla="*/ 0 w 1524000"/>
              <a:gd name="connsiteY1" fmla="*/ 1524000 h 1524000"/>
              <a:gd name="connsiteX2" fmla="*/ 1524000 w 1524000"/>
              <a:gd name="connsiteY2" fmla="*/ 1524000 h 1524000"/>
              <a:gd name="connsiteX3" fmla="*/ 0 w 1524000"/>
              <a:gd name="connsiteY3" fmla="*/ 0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4000" h="1524000">
                <a:moveTo>
                  <a:pt x="0" y="0"/>
                </a:moveTo>
                <a:lnTo>
                  <a:pt x="0" y="1524000"/>
                </a:lnTo>
                <a:lnTo>
                  <a:pt x="152400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C4D600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439F844-A289-8562-A96E-1A3596065218}"/>
              </a:ext>
            </a:extLst>
          </p:cNvPr>
          <p:cNvSpPr/>
          <p:nvPr userDrawn="1"/>
        </p:nvSpPr>
        <p:spPr>
          <a:xfrm>
            <a:off x="0" y="781050"/>
            <a:ext cx="2276475" cy="4552950"/>
          </a:xfrm>
          <a:custGeom>
            <a:avLst/>
            <a:gdLst>
              <a:gd name="connsiteX0" fmla="*/ 0 w 2276475"/>
              <a:gd name="connsiteY0" fmla="*/ 4552950 h 4552950"/>
              <a:gd name="connsiteX1" fmla="*/ 2276475 w 2276475"/>
              <a:gd name="connsiteY1" fmla="*/ 2276475 h 4552950"/>
              <a:gd name="connsiteX2" fmla="*/ 0 w 2276475"/>
              <a:gd name="connsiteY2" fmla="*/ 0 h 4552950"/>
              <a:gd name="connsiteX3" fmla="*/ 0 w 2276475"/>
              <a:gd name="connsiteY3" fmla="*/ 4552950 h 4552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6475" h="4552950">
                <a:moveTo>
                  <a:pt x="0" y="4552950"/>
                </a:moveTo>
                <a:lnTo>
                  <a:pt x="2276475" y="2276475"/>
                </a:lnTo>
                <a:lnTo>
                  <a:pt x="0" y="0"/>
                </a:lnTo>
                <a:lnTo>
                  <a:pt x="0" y="4552950"/>
                </a:lnTo>
                <a:close/>
              </a:path>
            </a:pathLst>
          </a:custGeom>
          <a:solidFill>
            <a:srgbClr val="009CDE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80986F0-48D2-B70E-8B40-E6EFC4D4FC5F}"/>
              </a:ext>
            </a:extLst>
          </p:cNvPr>
          <p:cNvSpPr/>
          <p:nvPr userDrawn="1"/>
        </p:nvSpPr>
        <p:spPr>
          <a:xfrm>
            <a:off x="2276475" y="4135183"/>
            <a:ext cx="3800475" cy="2722816"/>
          </a:xfrm>
          <a:custGeom>
            <a:avLst/>
            <a:gdLst>
              <a:gd name="connsiteX0" fmla="*/ 3800475 w 3800475"/>
              <a:gd name="connsiteY0" fmla="*/ 2722816 h 2722816"/>
              <a:gd name="connsiteX1" fmla="*/ 1645222 w 3800475"/>
              <a:gd name="connsiteY1" fmla="*/ 2722816 h 2722816"/>
              <a:gd name="connsiteX2" fmla="*/ 0 w 3800475"/>
              <a:gd name="connsiteY2" fmla="*/ 1077595 h 2722816"/>
              <a:gd name="connsiteX3" fmla="*/ 1077595 w 3800475"/>
              <a:gd name="connsiteY3" fmla="*/ 0 h 2722816"/>
              <a:gd name="connsiteX4" fmla="*/ 3800475 w 3800475"/>
              <a:gd name="connsiteY4" fmla="*/ 2722816 h 272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00475" h="2722816">
                <a:moveTo>
                  <a:pt x="3800475" y="2722816"/>
                </a:moveTo>
                <a:lnTo>
                  <a:pt x="1645222" y="2722816"/>
                </a:lnTo>
                <a:lnTo>
                  <a:pt x="0" y="1077595"/>
                </a:lnTo>
                <a:lnTo>
                  <a:pt x="1077595" y="0"/>
                </a:lnTo>
                <a:lnTo>
                  <a:pt x="3800475" y="2722816"/>
                </a:lnTo>
                <a:close/>
              </a:path>
            </a:pathLst>
          </a:custGeom>
          <a:solidFill>
            <a:srgbClr val="A50050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980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2AB63-1735-3C48-904C-0E5AB4776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2178E4-606E-4970-FBCC-60ED09E441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7059E-7CE4-89DB-C087-521EA831F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46F70-1BC2-4B41-800B-BD545B096BFD}" type="datetimeFigureOut">
              <a:rPr lang="en-GB" smtClean="0"/>
              <a:t>03/10/2025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F6133-D0F0-C2C4-B188-D0F2348F4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BF7A2-65CC-5F4C-3F91-038833D90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F0ED7-B3D2-4C3A-8C73-8D9AA36C0712}" type="slidenum">
              <a:rPr lang="en-GB" smtClean="0"/>
              <a:t>‹#›</a:t>
            </a:fld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1F880CC-17E7-9FC1-DB5C-261D215B1425}"/>
              </a:ext>
            </a:extLst>
          </p:cNvPr>
          <p:cNvGrpSpPr/>
          <p:nvPr userDrawn="1"/>
        </p:nvGrpSpPr>
        <p:grpSpPr>
          <a:xfrm>
            <a:off x="0" y="3822192"/>
            <a:ext cx="3035808" cy="3035808"/>
            <a:chOff x="0" y="2295525"/>
            <a:chExt cx="4557712" cy="455771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0CA6A70-A72B-73D9-7D97-C0FB847BF072}"/>
                </a:ext>
              </a:extLst>
            </p:cNvPr>
            <p:cNvSpPr/>
            <p:nvPr/>
          </p:nvSpPr>
          <p:spPr>
            <a:xfrm>
              <a:off x="0" y="5710237"/>
              <a:ext cx="1143000" cy="1143000"/>
            </a:xfrm>
            <a:custGeom>
              <a:avLst/>
              <a:gdLst>
                <a:gd name="connsiteX0" fmla="*/ 1143000 w 1143000"/>
                <a:gd name="connsiteY0" fmla="*/ 1143000 h 1143000"/>
                <a:gd name="connsiteX1" fmla="*/ 0 w 1143000"/>
                <a:gd name="connsiteY1" fmla="*/ 1143000 h 1143000"/>
                <a:gd name="connsiteX2" fmla="*/ 0 w 1143000"/>
                <a:gd name="connsiteY2" fmla="*/ 0 h 1143000"/>
                <a:gd name="connsiteX3" fmla="*/ 1143000 w 1143000"/>
                <a:gd name="connsiteY3" fmla="*/ 114300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00" h="1143000">
                  <a:moveTo>
                    <a:pt x="1143000" y="1143000"/>
                  </a:moveTo>
                  <a:lnTo>
                    <a:pt x="0" y="1143000"/>
                  </a:lnTo>
                  <a:lnTo>
                    <a:pt x="0" y="0"/>
                  </a:lnTo>
                  <a:lnTo>
                    <a:pt x="1143000" y="1143000"/>
                  </a:lnTo>
                  <a:close/>
                </a:path>
              </a:pathLst>
            </a:custGeom>
            <a:solidFill>
              <a:srgbClr val="C4D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7E8AB96-CB95-685B-F6F3-1584C66F2E25}"/>
                </a:ext>
              </a:extLst>
            </p:cNvPr>
            <p:cNvSpPr/>
            <p:nvPr/>
          </p:nvSpPr>
          <p:spPr>
            <a:xfrm>
              <a:off x="1143000" y="5145881"/>
              <a:ext cx="3414712" cy="1707356"/>
            </a:xfrm>
            <a:custGeom>
              <a:avLst/>
              <a:gdLst>
                <a:gd name="connsiteX0" fmla="*/ 0 w 3414712"/>
                <a:gd name="connsiteY0" fmla="*/ 1707356 h 1707356"/>
                <a:gd name="connsiteX1" fmla="*/ 1707356 w 3414712"/>
                <a:gd name="connsiteY1" fmla="*/ 0 h 1707356"/>
                <a:gd name="connsiteX2" fmla="*/ 3414713 w 3414712"/>
                <a:gd name="connsiteY2" fmla="*/ 1707356 h 1707356"/>
                <a:gd name="connsiteX3" fmla="*/ 0 w 3414712"/>
                <a:gd name="connsiteY3" fmla="*/ 1707356 h 1707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14712" h="1707356">
                  <a:moveTo>
                    <a:pt x="0" y="1707356"/>
                  </a:moveTo>
                  <a:lnTo>
                    <a:pt x="1707356" y="0"/>
                  </a:lnTo>
                  <a:lnTo>
                    <a:pt x="3414713" y="1707356"/>
                  </a:lnTo>
                  <a:lnTo>
                    <a:pt x="0" y="1707356"/>
                  </a:lnTo>
                  <a:close/>
                </a:path>
              </a:pathLst>
            </a:custGeom>
            <a:solidFill>
              <a:srgbClr val="009CD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016013E-FFD6-D7DE-1F56-923FA08336CC}"/>
                </a:ext>
              </a:extLst>
            </p:cNvPr>
            <p:cNvSpPr/>
            <p:nvPr/>
          </p:nvSpPr>
          <p:spPr>
            <a:xfrm>
              <a:off x="0" y="2295525"/>
              <a:ext cx="2042159" cy="2850356"/>
            </a:xfrm>
            <a:custGeom>
              <a:avLst/>
              <a:gdLst>
                <a:gd name="connsiteX0" fmla="*/ 0 w 2042159"/>
                <a:gd name="connsiteY0" fmla="*/ 0 h 2850356"/>
                <a:gd name="connsiteX1" fmla="*/ 0 w 2042159"/>
                <a:gd name="connsiteY1" fmla="*/ 1616488 h 2850356"/>
                <a:gd name="connsiteX2" fmla="*/ 1233868 w 2042159"/>
                <a:gd name="connsiteY2" fmla="*/ 2850356 h 2850356"/>
                <a:gd name="connsiteX3" fmla="*/ 2042160 w 2042159"/>
                <a:gd name="connsiteY3" fmla="*/ 2042160 h 2850356"/>
                <a:gd name="connsiteX4" fmla="*/ 0 w 2042159"/>
                <a:gd name="connsiteY4" fmla="*/ 0 h 2850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2159" h="2850356">
                  <a:moveTo>
                    <a:pt x="0" y="0"/>
                  </a:moveTo>
                  <a:lnTo>
                    <a:pt x="0" y="1616488"/>
                  </a:lnTo>
                  <a:lnTo>
                    <a:pt x="1233868" y="2850356"/>
                  </a:lnTo>
                  <a:lnTo>
                    <a:pt x="2042160" y="2042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0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7904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6473FF36-7FFB-AE65-F439-18698AF125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136880" y="1540209"/>
            <a:ext cx="5296639" cy="4305901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EAA213FD-346D-C460-9F6B-F923A3FEF2AF}"/>
              </a:ext>
            </a:extLst>
          </p:cNvPr>
          <p:cNvGrpSpPr/>
          <p:nvPr userDrawn="1"/>
        </p:nvGrpSpPr>
        <p:grpSpPr>
          <a:xfrm>
            <a:off x="0" y="3819525"/>
            <a:ext cx="3038474" cy="3038475"/>
            <a:chOff x="0" y="3819525"/>
            <a:chExt cx="3038474" cy="3038475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D6009E0-4435-17EF-5830-FC0DF5AE619A}"/>
                </a:ext>
              </a:extLst>
            </p:cNvPr>
            <p:cNvSpPr/>
            <p:nvPr/>
          </p:nvSpPr>
          <p:spPr>
            <a:xfrm>
              <a:off x="0" y="6096000"/>
              <a:ext cx="762000" cy="762000"/>
            </a:xfrm>
            <a:custGeom>
              <a:avLst/>
              <a:gdLst>
                <a:gd name="connsiteX0" fmla="*/ 0 w 762000"/>
                <a:gd name="connsiteY0" fmla="*/ 0 h 762000"/>
                <a:gd name="connsiteX1" fmla="*/ 0 w 762000"/>
                <a:gd name="connsiteY1" fmla="*/ 762000 h 762000"/>
                <a:gd name="connsiteX2" fmla="*/ 762000 w 762000"/>
                <a:gd name="connsiteY2" fmla="*/ 762000 h 762000"/>
                <a:gd name="connsiteX3" fmla="*/ 0 w 762000"/>
                <a:gd name="connsiteY3" fmla="*/ 0 h 76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0" h="762000">
                  <a:moveTo>
                    <a:pt x="0" y="0"/>
                  </a:moveTo>
                  <a:lnTo>
                    <a:pt x="0" y="762000"/>
                  </a:lnTo>
                  <a:lnTo>
                    <a:pt x="762000" y="762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D600"/>
            </a:solidFill>
            <a:ln w="6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5D5CB91-6B04-7728-F9B6-B11AAEF828A2}"/>
                </a:ext>
              </a:extLst>
            </p:cNvPr>
            <p:cNvSpPr/>
            <p:nvPr/>
          </p:nvSpPr>
          <p:spPr>
            <a:xfrm>
              <a:off x="0" y="3819525"/>
              <a:ext cx="1138237" cy="2276475"/>
            </a:xfrm>
            <a:custGeom>
              <a:avLst/>
              <a:gdLst>
                <a:gd name="connsiteX0" fmla="*/ 0 w 1138237"/>
                <a:gd name="connsiteY0" fmla="*/ 2276475 h 2276475"/>
                <a:gd name="connsiteX1" fmla="*/ 1138238 w 1138237"/>
                <a:gd name="connsiteY1" fmla="*/ 1138238 h 2276475"/>
                <a:gd name="connsiteX2" fmla="*/ 0 w 1138237"/>
                <a:gd name="connsiteY2" fmla="*/ 0 h 2276475"/>
                <a:gd name="connsiteX3" fmla="*/ 0 w 1138237"/>
                <a:gd name="connsiteY3" fmla="*/ 2276475 h 227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8237" h="2276475">
                  <a:moveTo>
                    <a:pt x="0" y="2276475"/>
                  </a:moveTo>
                  <a:lnTo>
                    <a:pt x="1138238" y="1138238"/>
                  </a:lnTo>
                  <a:lnTo>
                    <a:pt x="0" y="0"/>
                  </a:lnTo>
                  <a:lnTo>
                    <a:pt x="0" y="2276475"/>
                  </a:lnTo>
                  <a:close/>
                </a:path>
              </a:pathLst>
            </a:custGeom>
            <a:solidFill>
              <a:srgbClr val="009CDE"/>
            </a:solidFill>
            <a:ln w="6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5BD0205-6451-A68D-CC27-6B39F2D85327}"/>
                </a:ext>
              </a:extLst>
            </p:cNvPr>
            <p:cNvSpPr/>
            <p:nvPr/>
          </p:nvSpPr>
          <p:spPr>
            <a:xfrm>
              <a:off x="1138237" y="5496559"/>
              <a:ext cx="1900237" cy="1361440"/>
            </a:xfrm>
            <a:custGeom>
              <a:avLst/>
              <a:gdLst>
                <a:gd name="connsiteX0" fmla="*/ 1900238 w 1900237"/>
                <a:gd name="connsiteY0" fmla="*/ 1361440 h 1361440"/>
                <a:gd name="connsiteX1" fmla="*/ 822579 w 1900237"/>
                <a:gd name="connsiteY1" fmla="*/ 1361440 h 1361440"/>
                <a:gd name="connsiteX2" fmla="*/ 0 w 1900237"/>
                <a:gd name="connsiteY2" fmla="*/ 538861 h 1361440"/>
                <a:gd name="connsiteX3" fmla="*/ 538798 w 1900237"/>
                <a:gd name="connsiteY3" fmla="*/ 0 h 1361440"/>
                <a:gd name="connsiteX4" fmla="*/ 1900238 w 1900237"/>
                <a:gd name="connsiteY4" fmla="*/ 1361440 h 136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0237" h="1361440">
                  <a:moveTo>
                    <a:pt x="1900238" y="1361440"/>
                  </a:moveTo>
                  <a:lnTo>
                    <a:pt x="822579" y="1361440"/>
                  </a:lnTo>
                  <a:lnTo>
                    <a:pt x="0" y="538861"/>
                  </a:lnTo>
                  <a:lnTo>
                    <a:pt x="538798" y="0"/>
                  </a:lnTo>
                  <a:lnTo>
                    <a:pt x="1900238" y="1361440"/>
                  </a:lnTo>
                  <a:close/>
                </a:path>
              </a:pathLst>
            </a:custGeom>
            <a:solidFill>
              <a:srgbClr val="A50050"/>
            </a:solidFill>
            <a:ln w="6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617948BE-4F42-4F32-B2E2-FAF693159A22}"/>
              </a:ext>
            </a:extLst>
          </p:cNvPr>
          <p:cNvSpPr/>
          <p:nvPr userDrawn="1"/>
        </p:nvSpPr>
        <p:spPr>
          <a:xfrm>
            <a:off x="8990457" y="0"/>
            <a:ext cx="1524000" cy="762000"/>
          </a:xfrm>
          <a:custGeom>
            <a:avLst/>
            <a:gdLst>
              <a:gd name="connsiteX0" fmla="*/ 762000 w 1524000"/>
              <a:gd name="connsiteY0" fmla="*/ 0 h 762000"/>
              <a:gd name="connsiteX1" fmla="*/ 0 w 1524000"/>
              <a:gd name="connsiteY1" fmla="*/ 0 h 762000"/>
              <a:gd name="connsiteX2" fmla="*/ 762000 w 1524000"/>
              <a:gd name="connsiteY2" fmla="*/ 762000 h 762000"/>
              <a:gd name="connsiteX3" fmla="*/ 1524000 w 1524000"/>
              <a:gd name="connsiteY3" fmla="*/ 0 h 762000"/>
              <a:gd name="connsiteX4" fmla="*/ 762000 w 1524000"/>
              <a:gd name="connsiteY4" fmla="*/ 0 h 76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000" h="762000">
                <a:moveTo>
                  <a:pt x="762000" y="0"/>
                </a:moveTo>
                <a:lnTo>
                  <a:pt x="0" y="0"/>
                </a:lnTo>
                <a:lnTo>
                  <a:pt x="762000" y="762000"/>
                </a:lnTo>
                <a:lnTo>
                  <a:pt x="1524000" y="0"/>
                </a:lnTo>
                <a:lnTo>
                  <a:pt x="762000" y="0"/>
                </a:lnTo>
                <a:close/>
              </a:path>
            </a:pathLst>
          </a:custGeom>
          <a:solidFill>
            <a:srgbClr val="A50050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B8751D3-CC0B-C5E3-FBF7-D3962C4A0783}"/>
              </a:ext>
            </a:extLst>
          </p:cNvPr>
          <p:cNvSpPr/>
          <p:nvPr userDrawn="1"/>
        </p:nvSpPr>
        <p:spPr>
          <a:xfrm rot="18900000">
            <a:off x="9115394" y="2372643"/>
            <a:ext cx="762000" cy="762000"/>
          </a:xfrm>
          <a:custGeom>
            <a:avLst/>
            <a:gdLst>
              <a:gd name="connsiteX0" fmla="*/ 0 w 762000"/>
              <a:gd name="connsiteY0" fmla="*/ 0 h 762000"/>
              <a:gd name="connsiteX1" fmla="*/ 762000 w 762000"/>
              <a:gd name="connsiteY1" fmla="*/ 0 h 762000"/>
              <a:gd name="connsiteX2" fmla="*/ 762000 w 762000"/>
              <a:gd name="connsiteY2" fmla="*/ 762000 h 762000"/>
              <a:gd name="connsiteX3" fmla="*/ 0 w 762000"/>
              <a:gd name="connsiteY3" fmla="*/ 762000 h 76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close/>
              </a:path>
            </a:pathLst>
          </a:custGeom>
          <a:solidFill>
            <a:srgbClr val="009CDE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226C23BB-22FC-0937-B86D-AB54D727B8A7}"/>
              </a:ext>
            </a:extLst>
          </p:cNvPr>
          <p:cNvSpPr/>
          <p:nvPr userDrawn="1"/>
        </p:nvSpPr>
        <p:spPr>
          <a:xfrm>
            <a:off x="7341108" y="598360"/>
            <a:ext cx="2155253" cy="2155253"/>
          </a:xfrm>
          <a:custGeom>
            <a:avLst/>
            <a:gdLst>
              <a:gd name="connsiteX0" fmla="*/ 1616456 w 2155253"/>
              <a:gd name="connsiteY0" fmla="*/ 1077595 h 2155253"/>
              <a:gd name="connsiteX1" fmla="*/ 1077596 w 2155253"/>
              <a:gd name="connsiteY1" fmla="*/ 538798 h 2155253"/>
              <a:gd name="connsiteX2" fmla="*/ 538797 w 2155253"/>
              <a:gd name="connsiteY2" fmla="*/ 0 h 2155253"/>
              <a:gd name="connsiteX3" fmla="*/ 0 w 2155253"/>
              <a:gd name="connsiteY3" fmla="*/ 538798 h 2155253"/>
              <a:gd name="connsiteX4" fmla="*/ 538797 w 2155253"/>
              <a:gd name="connsiteY4" fmla="*/ 1077595 h 2155253"/>
              <a:gd name="connsiteX5" fmla="*/ 1077596 w 2155253"/>
              <a:gd name="connsiteY5" fmla="*/ 1616456 h 2155253"/>
              <a:gd name="connsiteX6" fmla="*/ 1616456 w 2155253"/>
              <a:gd name="connsiteY6" fmla="*/ 2155254 h 2155253"/>
              <a:gd name="connsiteX7" fmla="*/ 2155254 w 2155253"/>
              <a:gd name="connsiteY7" fmla="*/ 1616456 h 2155253"/>
              <a:gd name="connsiteX8" fmla="*/ 1616456 w 2155253"/>
              <a:gd name="connsiteY8" fmla="*/ 1077595 h 2155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55253" h="2155253">
                <a:moveTo>
                  <a:pt x="1616456" y="1077595"/>
                </a:moveTo>
                <a:lnTo>
                  <a:pt x="1077596" y="538798"/>
                </a:lnTo>
                <a:lnTo>
                  <a:pt x="538797" y="0"/>
                </a:lnTo>
                <a:lnTo>
                  <a:pt x="0" y="538798"/>
                </a:lnTo>
                <a:lnTo>
                  <a:pt x="538797" y="1077595"/>
                </a:lnTo>
                <a:lnTo>
                  <a:pt x="1077596" y="1616456"/>
                </a:lnTo>
                <a:lnTo>
                  <a:pt x="1616456" y="2155254"/>
                </a:lnTo>
                <a:lnTo>
                  <a:pt x="2155254" y="1616456"/>
                </a:lnTo>
                <a:lnTo>
                  <a:pt x="1616456" y="1077595"/>
                </a:lnTo>
                <a:close/>
              </a:path>
            </a:pathLst>
          </a:custGeom>
          <a:solidFill>
            <a:srgbClr val="C4D600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AEB9B6B7-B3F2-0812-742C-7A5E580493A8}"/>
              </a:ext>
            </a:extLst>
          </p:cNvPr>
          <p:cNvSpPr/>
          <p:nvPr userDrawn="1"/>
        </p:nvSpPr>
        <p:spPr>
          <a:xfrm>
            <a:off x="6812026" y="1137158"/>
            <a:ext cx="2155253" cy="2155253"/>
          </a:xfrm>
          <a:custGeom>
            <a:avLst/>
            <a:gdLst>
              <a:gd name="connsiteX0" fmla="*/ 1616456 w 2155253"/>
              <a:gd name="connsiteY0" fmla="*/ 1077659 h 2155253"/>
              <a:gd name="connsiteX1" fmla="*/ 1077595 w 2155253"/>
              <a:gd name="connsiteY1" fmla="*/ 538797 h 2155253"/>
              <a:gd name="connsiteX2" fmla="*/ 538798 w 2155253"/>
              <a:gd name="connsiteY2" fmla="*/ 0 h 2155253"/>
              <a:gd name="connsiteX3" fmla="*/ 0 w 2155253"/>
              <a:gd name="connsiteY3" fmla="*/ 538797 h 2155253"/>
              <a:gd name="connsiteX4" fmla="*/ 538798 w 2155253"/>
              <a:gd name="connsiteY4" fmla="*/ 1077659 h 2155253"/>
              <a:gd name="connsiteX5" fmla="*/ 1077595 w 2155253"/>
              <a:gd name="connsiteY5" fmla="*/ 1616456 h 2155253"/>
              <a:gd name="connsiteX6" fmla="*/ 1616456 w 2155253"/>
              <a:gd name="connsiteY6" fmla="*/ 2155254 h 2155253"/>
              <a:gd name="connsiteX7" fmla="*/ 2155253 w 2155253"/>
              <a:gd name="connsiteY7" fmla="*/ 1616456 h 2155253"/>
              <a:gd name="connsiteX8" fmla="*/ 1616456 w 2155253"/>
              <a:gd name="connsiteY8" fmla="*/ 1077659 h 2155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55253" h="2155253">
                <a:moveTo>
                  <a:pt x="1616456" y="1077659"/>
                </a:moveTo>
                <a:lnTo>
                  <a:pt x="1077595" y="538797"/>
                </a:lnTo>
                <a:lnTo>
                  <a:pt x="538798" y="0"/>
                </a:lnTo>
                <a:lnTo>
                  <a:pt x="0" y="538797"/>
                </a:lnTo>
                <a:lnTo>
                  <a:pt x="538798" y="1077659"/>
                </a:lnTo>
                <a:lnTo>
                  <a:pt x="1077595" y="1616456"/>
                </a:lnTo>
                <a:lnTo>
                  <a:pt x="1616456" y="2155254"/>
                </a:lnTo>
                <a:lnTo>
                  <a:pt x="2155253" y="1616456"/>
                </a:lnTo>
                <a:lnTo>
                  <a:pt x="1616456" y="1077659"/>
                </a:lnTo>
                <a:close/>
              </a:path>
            </a:pathLst>
          </a:custGeom>
          <a:solidFill>
            <a:srgbClr val="A50050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15CE788A-FE42-AC4B-DACD-E63848781A6F}"/>
              </a:ext>
            </a:extLst>
          </p:cNvPr>
          <p:cNvSpPr/>
          <p:nvPr userDrawn="1"/>
        </p:nvSpPr>
        <p:spPr>
          <a:xfrm rot="18900000">
            <a:off x="10350774" y="913957"/>
            <a:ext cx="1524000" cy="1524000"/>
          </a:xfrm>
          <a:custGeom>
            <a:avLst/>
            <a:gdLst>
              <a:gd name="connsiteX0" fmla="*/ 0 w 1524000"/>
              <a:gd name="connsiteY0" fmla="*/ 0 h 1524000"/>
              <a:gd name="connsiteX1" fmla="*/ 1524000 w 1524000"/>
              <a:gd name="connsiteY1" fmla="*/ 0 h 1524000"/>
              <a:gd name="connsiteX2" fmla="*/ 1524000 w 1524000"/>
              <a:gd name="connsiteY2" fmla="*/ 1524000 h 1524000"/>
              <a:gd name="connsiteX3" fmla="*/ 0 w 1524000"/>
              <a:gd name="connsiteY3" fmla="*/ 1524000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4000" h="1524000">
                <a:moveTo>
                  <a:pt x="0" y="0"/>
                </a:moveTo>
                <a:lnTo>
                  <a:pt x="1524000" y="0"/>
                </a:lnTo>
                <a:lnTo>
                  <a:pt x="1524000" y="1524000"/>
                </a:lnTo>
                <a:lnTo>
                  <a:pt x="0" y="1524000"/>
                </a:lnTo>
                <a:close/>
              </a:path>
            </a:pathLst>
          </a:custGeom>
          <a:solidFill>
            <a:srgbClr val="009CDE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80B018A-5F69-889F-F2A7-CC818E1470EB}"/>
              </a:ext>
            </a:extLst>
          </p:cNvPr>
          <p:cNvSpPr/>
          <p:nvPr userDrawn="1"/>
        </p:nvSpPr>
        <p:spPr>
          <a:xfrm>
            <a:off x="6203950" y="0"/>
            <a:ext cx="1675955" cy="1137158"/>
          </a:xfrm>
          <a:custGeom>
            <a:avLst/>
            <a:gdLst>
              <a:gd name="connsiteX0" fmla="*/ 1077595 w 1675955"/>
              <a:gd name="connsiteY0" fmla="*/ 0 h 1137158"/>
              <a:gd name="connsiteX1" fmla="*/ 0 w 1675955"/>
              <a:gd name="connsiteY1" fmla="*/ 0 h 1137158"/>
              <a:gd name="connsiteX2" fmla="*/ 59499 w 1675955"/>
              <a:gd name="connsiteY2" fmla="*/ 59563 h 1137158"/>
              <a:gd name="connsiteX3" fmla="*/ 598297 w 1675955"/>
              <a:gd name="connsiteY3" fmla="*/ 598361 h 1137158"/>
              <a:gd name="connsiteX4" fmla="*/ 1137158 w 1675955"/>
              <a:gd name="connsiteY4" fmla="*/ 1137158 h 1137158"/>
              <a:gd name="connsiteX5" fmla="*/ 1675955 w 1675955"/>
              <a:gd name="connsiteY5" fmla="*/ 598361 h 1137158"/>
              <a:gd name="connsiteX6" fmla="*/ 1137158 w 1675955"/>
              <a:gd name="connsiteY6" fmla="*/ 59563 h 1137158"/>
              <a:gd name="connsiteX7" fmla="*/ 1077595 w 1675955"/>
              <a:gd name="connsiteY7" fmla="*/ 0 h 1137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75955" h="1137158">
                <a:moveTo>
                  <a:pt x="1077595" y="0"/>
                </a:moveTo>
                <a:lnTo>
                  <a:pt x="0" y="0"/>
                </a:lnTo>
                <a:lnTo>
                  <a:pt x="59499" y="59563"/>
                </a:lnTo>
                <a:lnTo>
                  <a:pt x="598297" y="598361"/>
                </a:lnTo>
                <a:lnTo>
                  <a:pt x="1137158" y="1137158"/>
                </a:lnTo>
                <a:lnTo>
                  <a:pt x="1675955" y="598361"/>
                </a:lnTo>
                <a:lnTo>
                  <a:pt x="1137158" y="59563"/>
                </a:lnTo>
                <a:lnTo>
                  <a:pt x="1077595" y="0"/>
                </a:lnTo>
                <a:close/>
              </a:path>
            </a:pathLst>
          </a:custGeom>
          <a:solidFill>
            <a:srgbClr val="009CDE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556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C2C73-BAED-6AFB-6A04-9FBD970C6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8B8CD9-66B3-A961-43CD-8A2073453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E6B2F-94DC-188E-EF81-A6C45B839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46F70-1BC2-4B41-800B-BD545B096BFD}" type="datetimeFigureOut">
              <a:rPr lang="en-GB" smtClean="0"/>
              <a:t>03/10/2025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376FF-0545-E929-C5D4-82593764A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2ECA4-0FF1-35FE-950A-B6ED70AFC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F0ED7-B3D2-4C3A-8C73-8D9AA36C0712}" type="slidenum">
              <a:rPr lang="en-GB" smtClean="0"/>
              <a:t>‹#›</a:t>
            </a:fld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D606F16-C354-4239-07D1-1AD127CFE71E}"/>
              </a:ext>
            </a:extLst>
          </p:cNvPr>
          <p:cNvGrpSpPr/>
          <p:nvPr userDrawn="1"/>
        </p:nvGrpSpPr>
        <p:grpSpPr>
          <a:xfrm>
            <a:off x="9156192" y="0"/>
            <a:ext cx="3035808" cy="3035808"/>
            <a:chOff x="9156192" y="0"/>
            <a:chExt cx="3035808" cy="3035808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9377F14-2AED-2668-A77C-FA5D50B68530}"/>
                </a:ext>
              </a:extLst>
            </p:cNvPr>
            <p:cNvSpPr/>
            <p:nvPr/>
          </p:nvSpPr>
          <p:spPr>
            <a:xfrm rot="10800000">
              <a:off x="11430669" y="0"/>
              <a:ext cx="761331" cy="761331"/>
            </a:xfrm>
            <a:custGeom>
              <a:avLst/>
              <a:gdLst>
                <a:gd name="connsiteX0" fmla="*/ 1143000 w 1143000"/>
                <a:gd name="connsiteY0" fmla="*/ 1143000 h 1143000"/>
                <a:gd name="connsiteX1" fmla="*/ 0 w 1143000"/>
                <a:gd name="connsiteY1" fmla="*/ 1143000 h 1143000"/>
                <a:gd name="connsiteX2" fmla="*/ 0 w 1143000"/>
                <a:gd name="connsiteY2" fmla="*/ 0 h 1143000"/>
                <a:gd name="connsiteX3" fmla="*/ 1143000 w 1143000"/>
                <a:gd name="connsiteY3" fmla="*/ 114300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00" h="1143000">
                  <a:moveTo>
                    <a:pt x="1143000" y="1143000"/>
                  </a:moveTo>
                  <a:lnTo>
                    <a:pt x="0" y="1143000"/>
                  </a:lnTo>
                  <a:lnTo>
                    <a:pt x="0" y="0"/>
                  </a:lnTo>
                  <a:lnTo>
                    <a:pt x="1143000" y="1143000"/>
                  </a:lnTo>
                  <a:close/>
                </a:path>
              </a:pathLst>
            </a:custGeom>
            <a:solidFill>
              <a:srgbClr val="C4D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8C1DF86-694E-6446-4A8B-2285FFA08362}"/>
                </a:ext>
              </a:extLst>
            </p:cNvPr>
            <p:cNvSpPr/>
            <p:nvPr/>
          </p:nvSpPr>
          <p:spPr>
            <a:xfrm rot="10800000">
              <a:off x="9156192" y="0"/>
              <a:ext cx="2274477" cy="1137238"/>
            </a:xfrm>
            <a:custGeom>
              <a:avLst/>
              <a:gdLst>
                <a:gd name="connsiteX0" fmla="*/ 0 w 3414712"/>
                <a:gd name="connsiteY0" fmla="*/ 1707356 h 1707356"/>
                <a:gd name="connsiteX1" fmla="*/ 1707356 w 3414712"/>
                <a:gd name="connsiteY1" fmla="*/ 0 h 1707356"/>
                <a:gd name="connsiteX2" fmla="*/ 3414713 w 3414712"/>
                <a:gd name="connsiteY2" fmla="*/ 1707356 h 1707356"/>
                <a:gd name="connsiteX3" fmla="*/ 0 w 3414712"/>
                <a:gd name="connsiteY3" fmla="*/ 1707356 h 1707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14712" h="1707356">
                  <a:moveTo>
                    <a:pt x="0" y="1707356"/>
                  </a:moveTo>
                  <a:lnTo>
                    <a:pt x="1707356" y="0"/>
                  </a:lnTo>
                  <a:lnTo>
                    <a:pt x="3414713" y="1707356"/>
                  </a:lnTo>
                  <a:lnTo>
                    <a:pt x="0" y="1707356"/>
                  </a:lnTo>
                  <a:close/>
                </a:path>
              </a:pathLst>
            </a:custGeom>
            <a:solidFill>
              <a:srgbClr val="009CD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4AE9892-1EFB-5D4B-E113-7C3EBA07230A}"/>
                </a:ext>
              </a:extLst>
            </p:cNvPr>
            <p:cNvSpPr/>
            <p:nvPr/>
          </p:nvSpPr>
          <p:spPr>
            <a:xfrm rot="10800000">
              <a:off x="10831756" y="1137238"/>
              <a:ext cx="1360244" cy="1898570"/>
            </a:xfrm>
            <a:custGeom>
              <a:avLst/>
              <a:gdLst>
                <a:gd name="connsiteX0" fmla="*/ 0 w 2042159"/>
                <a:gd name="connsiteY0" fmla="*/ 0 h 2850356"/>
                <a:gd name="connsiteX1" fmla="*/ 0 w 2042159"/>
                <a:gd name="connsiteY1" fmla="*/ 1616488 h 2850356"/>
                <a:gd name="connsiteX2" fmla="*/ 1233868 w 2042159"/>
                <a:gd name="connsiteY2" fmla="*/ 2850356 h 2850356"/>
                <a:gd name="connsiteX3" fmla="*/ 2042160 w 2042159"/>
                <a:gd name="connsiteY3" fmla="*/ 2042160 h 2850356"/>
                <a:gd name="connsiteX4" fmla="*/ 0 w 2042159"/>
                <a:gd name="connsiteY4" fmla="*/ 0 h 2850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2159" h="2850356">
                  <a:moveTo>
                    <a:pt x="0" y="0"/>
                  </a:moveTo>
                  <a:lnTo>
                    <a:pt x="0" y="1616488"/>
                  </a:lnTo>
                  <a:lnTo>
                    <a:pt x="1233868" y="2850356"/>
                  </a:lnTo>
                  <a:lnTo>
                    <a:pt x="2042160" y="2042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26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52136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1D5D1-3C54-A316-923A-2859A81C4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7736A5-0ED5-5E44-9239-96E922B9AF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53A467-9ADB-CF45-D09C-64D030FEBE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75BD05-F6C1-3A79-B799-942B4D9E52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FC2118-B7EB-B198-E489-5F96137BB6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46AE64-E8E8-6820-45B2-2D741F3C1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46F70-1BC2-4B41-800B-BD545B096BFD}" type="datetimeFigureOut">
              <a:rPr lang="en-GB" smtClean="0"/>
              <a:t>03/10/2025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6AA263-D0C8-1347-DB90-EE281E4A0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45C56F-BFFE-9EC3-6107-B47D3B957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F0ED7-B3D2-4C3A-8C73-8D9AA36C07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0038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38551-62CA-CE02-C683-9742A5810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0FC813-F0F6-CD4E-D654-2B4D603D2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46F70-1BC2-4B41-800B-BD545B096BFD}" type="datetimeFigureOut">
              <a:rPr lang="en-GB" smtClean="0"/>
              <a:t>03/10/2025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4D0641-CA0E-6F67-6915-951686396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03D26-FD27-6F78-7F97-2962F2762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F0ED7-B3D2-4C3A-8C73-8D9AA36C07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6659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0E0A80-7F7F-8A00-5448-FD1FBBC12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46F70-1BC2-4B41-800B-BD545B096BFD}" type="datetimeFigureOut">
              <a:rPr lang="en-GB" smtClean="0"/>
              <a:t>03/10/2025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3C99A7-8AF1-1DE1-CECE-CC74BCD75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E2A9-8D3B-782F-7C2F-084EBB39B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F0ED7-B3D2-4C3A-8C73-8D9AA36C07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6238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7F512-882F-8A93-A8CD-BDAB07E3F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2A230-9D33-1D59-B7DF-203FE63B4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83D56F-C25A-3520-BB1E-66C6B97B8D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11745A-620E-6BB6-FAB0-739A65E03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46F70-1BC2-4B41-800B-BD545B096BFD}" type="datetimeFigureOut">
              <a:rPr lang="en-GB" smtClean="0"/>
              <a:t>03/10/2025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3F5762-0389-FC11-6862-09D272443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CDA2A9-78EC-1775-5034-FF798CD9E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F0ED7-B3D2-4C3A-8C73-8D9AA36C07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8516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C7673-C6C4-9BB6-1715-1960ECBA8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F7278C-247F-A019-AE3F-6D1BD8232B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D76122-3C81-C6FB-8B49-251E66C438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39288A-CA9C-76A6-D320-6B4183B1A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46F70-1BC2-4B41-800B-BD545B096BFD}" type="datetimeFigureOut">
              <a:rPr lang="en-GB" smtClean="0"/>
              <a:t>03/10/2025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C9E8FB-D0A1-C9D1-146F-B84318FAC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BB9E3B-A57F-0ED7-BD24-476E47172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F0ED7-B3D2-4C3A-8C73-8D9AA36C07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1051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F897D-1A43-9EB6-FA9F-49D7960AE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BA8CDA-D832-8246-1ABC-07AB5D9A17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115F4-597F-5A0B-CDA4-33AAA0A37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46F70-1BC2-4B41-800B-BD545B096BFD}" type="datetimeFigureOut">
              <a:rPr lang="en-GB" smtClean="0"/>
              <a:t>03/10/2025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80AA6-26B0-A5EA-8897-8417C62DF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9868C-7CB0-447D-47A7-ED1B858C9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F0ED7-B3D2-4C3A-8C73-8D9AA36C07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2393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4257FD-240F-C75E-F430-89A0F5CA38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6D4680-3948-CD9A-7A86-C1AF022C3F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6E645-9F4F-CF68-F881-DB6F25A89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46F70-1BC2-4B41-800B-BD545B096BFD}" type="datetimeFigureOut">
              <a:rPr lang="en-GB" smtClean="0"/>
              <a:t>03/10/2025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F4C068-877A-A38A-F099-CC029F535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8722F-3523-A6E9-FCBC-7B882EF99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F0ED7-B3D2-4C3A-8C73-8D9AA36C07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7844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5FA59-D418-65B0-3E7D-5717DFA1B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E7CA3B-3898-A227-E455-1E39C9C858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B088D-6D20-1B3B-A885-6A6DD83676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346F70-1BC2-4B41-800B-BD545B096BFD}" type="datetimeFigureOut">
              <a:rPr lang="en-GB" smtClean="0"/>
              <a:t>03/10/2025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CDBF3-8359-A440-C53B-AAC08461AD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BE200-6DC4-A99E-F6B0-F965235494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2F0ED7-B3D2-4C3A-8C73-8D9AA36C07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9372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0A47D-4D53-9AE8-5C54-6E6FF681A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Freeform: Shape 125">
            <a:extLst>
              <a:ext uri="{FF2B5EF4-FFF2-40B4-BE49-F238E27FC236}">
                <a16:creationId xmlns:a16="http://schemas.microsoft.com/office/drawing/2014/main" id="{3A7F0019-90A9-03DA-24A5-689E05C6AC0D}"/>
              </a:ext>
            </a:extLst>
          </p:cNvPr>
          <p:cNvSpPr/>
          <p:nvPr/>
        </p:nvSpPr>
        <p:spPr>
          <a:xfrm>
            <a:off x="0" y="5334000"/>
            <a:ext cx="1524000" cy="1524000"/>
          </a:xfrm>
          <a:custGeom>
            <a:avLst/>
            <a:gdLst>
              <a:gd name="connsiteX0" fmla="*/ 0 w 1524000"/>
              <a:gd name="connsiteY0" fmla="*/ 0 h 1524000"/>
              <a:gd name="connsiteX1" fmla="*/ 0 w 1524000"/>
              <a:gd name="connsiteY1" fmla="*/ 1524000 h 1524000"/>
              <a:gd name="connsiteX2" fmla="*/ 1524000 w 1524000"/>
              <a:gd name="connsiteY2" fmla="*/ 1524000 h 1524000"/>
              <a:gd name="connsiteX3" fmla="*/ 0 w 1524000"/>
              <a:gd name="connsiteY3" fmla="*/ 0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4000" h="1524000">
                <a:moveTo>
                  <a:pt x="0" y="0"/>
                </a:moveTo>
                <a:lnTo>
                  <a:pt x="0" y="1524000"/>
                </a:lnTo>
                <a:lnTo>
                  <a:pt x="152400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C4D600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7" name="Freeform: Shape 126">
            <a:extLst>
              <a:ext uri="{FF2B5EF4-FFF2-40B4-BE49-F238E27FC236}">
                <a16:creationId xmlns:a16="http://schemas.microsoft.com/office/drawing/2014/main" id="{F0CCA180-B07D-3912-69C1-D204467F3C7F}"/>
              </a:ext>
            </a:extLst>
          </p:cNvPr>
          <p:cNvSpPr/>
          <p:nvPr/>
        </p:nvSpPr>
        <p:spPr>
          <a:xfrm>
            <a:off x="0" y="781050"/>
            <a:ext cx="2276475" cy="4552950"/>
          </a:xfrm>
          <a:custGeom>
            <a:avLst/>
            <a:gdLst>
              <a:gd name="connsiteX0" fmla="*/ 0 w 2276475"/>
              <a:gd name="connsiteY0" fmla="*/ 4552950 h 4552950"/>
              <a:gd name="connsiteX1" fmla="*/ 2276475 w 2276475"/>
              <a:gd name="connsiteY1" fmla="*/ 2276475 h 4552950"/>
              <a:gd name="connsiteX2" fmla="*/ 0 w 2276475"/>
              <a:gd name="connsiteY2" fmla="*/ 0 h 4552950"/>
              <a:gd name="connsiteX3" fmla="*/ 0 w 2276475"/>
              <a:gd name="connsiteY3" fmla="*/ 4552950 h 4552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6475" h="4552950">
                <a:moveTo>
                  <a:pt x="0" y="4552950"/>
                </a:moveTo>
                <a:lnTo>
                  <a:pt x="2276475" y="2276475"/>
                </a:lnTo>
                <a:lnTo>
                  <a:pt x="0" y="0"/>
                </a:lnTo>
                <a:lnTo>
                  <a:pt x="0" y="4552950"/>
                </a:lnTo>
                <a:close/>
              </a:path>
            </a:pathLst>
          </a:custGeom>
          <a:solidFill>
            <a:srgbClr val="009CDE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8" name="Freeform: Shape 127">
            <a:extLst>
              <a:ext uri="{FF2B5EF4-FFF2-40B4-BE49-F238E27FC236}">
                <a16:creationId xmlns:a16="http://schemas.microsoft.com/office/drawing/2014/main" id="{D9E4EFF1-1E77-EAB5-A32D-42EB929E03F8}"/>
              </a:ext>
            </a:extLst>
          </p:cNvPr>
          <p:cNvSpPr/>
          <p:nvPr/>
        </p:nvSpPr>
        <p:spPr>
          <a:xfrm>
            <a:off x="2276475" y="4135183"/>
            <a:ext cx="3800475" cy="2722816"/>
          </a:xfrm>
          <a:custGeom>
            <a:avLst/>
            <a:gdLst>
              <a:gd name="connsiteX0" fmla="*/ 3800475 w 3800475"/>
              <a:gd name="connsiteY0" fmla="*/ 2722816 h 2722816"/>
              <a:gd name="connsiteX1" fmla="*/ 1645222 w 3800475"/>
              <a:gd name="connsiteY1" fmla="*/ 2722816 h 2722816"/>
              <a:gd name="connsiteX2" fmla="*/ 0 w 3800475"/>
              <a:gd name="connsiteY2" fmla="*/ 1077595 h 2722816"/>
              <a:gd name="connsiteX3" fmla="*/ 1077595 w 3800475"/>
              <a:gd name="connsiteY3" fmla="*/ 0 h 2722816"/>
              <a:gd name="connsiteX4" fmla="*/ 3800475 w 3800475"/>
              <a:gd name="connsiteY4" fmla="*/ 2722816 h 272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00475" h="2722816">
                <a:moveTo>
                  <a:pt x="3800475" y="2722816"/>
                </a:moveTo>
                <a:lnTo>
                  <a:pt x="1645222" y="2722816"/>
                </a:lnTo>
                <a:lnTo>
                  <a:pt x="0" y="1077595"/>
                </a:lnTo>
                <a:lnTo>
                  <a:pt x="1077595" y="0"/>
                </a:lnTo>
                <a:lnTo>
                  <a:pt x="3800475" y="2722816"/>
                </a:lnTo>
                <a:close/>
              </a:path>
            </a:pathLst>
          </a:custGeom>
          <a:solidFill>
            <a:srgbClr val="A50050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533991-B854-12E9-29F5-4204F5649868}"/>
              </a:ext>
            </a:extLst>
          </p:cNvPr>
          <p:cNvSpPr txBox="1">
            <a:spLocks/>
          </p:cNvSpPr>
          <p:nvPr/>
        </p:nvSpPr>
        <p:spPr>
          <a:xfrm>
            <a:off x="6185090" y="1532904"/>
            <a:ext cx="5555806" cy="1655761"/>
          </a:xfrm>
          <a:prstGeom prst="rect">
            <a:avLst/>
          </a:prstGeom>
        </p:spPr>
        <p:txBody>
          <a:bodyPr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kumimoji="0" lang="en-GB" b="1" i="0" u="none" strike="noStrike" kern="1200" cap="none" spc="0" normalizeH="0" baseline="0" noProof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/>
                <a:ea typeface="Calibri"/>
                <a:cs typeface="Arial"/>
              </a:rPr>
              <a:t>Hogyan</a:t>
            </a:r>
            <a:r>
              <a:rPr kumimoji="0" lang="en-GB" b="1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/>
                <a:ea typeface="Calibri"/>
                <a:cs typeface="Arial"/>
              </a:rPr>
              <a:t> </a:t>
            </a:r>
            <a:r>
              <a:rPr lang="en-GB" b="1" err="1">
                <a:solidFill>
                  <a:srgbClr val="00426A"/>
                </a:solidFill>
                <a:latin typeface="Arial"/>
                <a:ea typeface="Calibri"/>
                <a:cs typeface="Arial"/>
              </a:rPr>
              <a:t>működik</a:t>
            </a:r>
            <a:r>
              <a:rPr kumimoji="0" lang="en-GB" b="1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/>
                <a:ea typeface="Calibri"/>
                <a:cs typeface="Arial"/>
              </a:rPr>
              <a:t> </a:t>
            </a:r>
            <a:r>
              <a:rPr lang="en-GB" b="1">
                <a:solidFill>
                  <a:srgbClr val="00426A"/>
                </a:solidFill>
                <a:latin typeface="Arial"/>
                <a:ea typeface="Calibri"/>
                <a:cs typeface="Arial"/>
              </a:rPr>
              <a:t>a</a:t>
            </a:r>
            <a:r>
              <a:rPr kumimoji="0" lang="en-GB" b="1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/>
                <a:ea typeface="Calibri"/>
                <a:cs typeface="Arial"/>
              </a:rPr>
              <a:t> </a:t>
            </a:r>
            <a:r>
              <a:rPr lang="en-GB" b="1" err="1">
                <a:solidFill>
                  <a:srgbClr val="00426A"/>
                </a:solidFill>
                <a:latin typeface="Arial"/>
                <a:ea typeface="Calibri"/>
                <a:cs typeface="Arial"/>
              </a:rPr>
              <a:t>természetes</a:t>
            </a:r>
            <a:r>
              <a:rPr lang="en-GB" b="1">
                <a:solidFill>
                  <a:srgbClr val="00426A"/>
                </a:solidFill>
                <a:latin typeface="Arial"/>
                <a:ea typeface="Calibri"/>
                <a:cs typeface="Arial"/>
              </a:rPr>
              <a:t> </a:t>
            </a:r>
            <a:r>
              <a:rPr lang="en-GB" b="1" err="1">
                <a:solidFill>
                  <a:srgbClr val="00426A"/>
                </a:solidFill>
                <a:latin typeface="Arial"/>
                <a:ea typeface="Calibri"/>
                <a:cs typeface="Arial"/>
              </a:rPr>
              <a:t>nyelvfeldolgozás</a:t>
            </a:r>
            <a:r>
              <a:rPr kumimoji="0" lang="en-GB" b="1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/>
                <a:ea typeface="Calibri"/>
                <a:cs typeface="Arial"/>
              </a:rPr>
              <a:t>?</a:t>
            </a:r>
            <a:endParaRPr lang="en-GB" b="1" i="0" u="none" strike="noStrike" kern="1200" cap="none" spc="0" normalizeH="0" baseline="0" noProof="0">
              <a:ln>
                <a:noFill/>
              </a:ln>
              <a:solidFill>
                <a:srgbClr val="00426A"/>
              </a:solidFill>
              <a:effectLst/>
              <a:uLnTx/>
              <a:uFillTx/>
              <a:latin typeface="Arial"/>
              <a:ea typeface="Calibri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B7E346-B7AD-C70A-69D8-5F035550ABF5}"/>
              </a:ext>
            </a:extLst>
          </p:cNvPr>
          <p:cNvSpPr/>
          <p:nvPr/>
        </p:nvSpPr>
        <p:spPr>
          <a:xfrm>
            <a:off x="6207597" y="3417957"/>
            <a:ext cx="5381231" cy="113663"/>
          </a:xfrm>
          <a:prstGeom prst="rect">
            <a:avLst/>
          </a:prstGeom>
          <a:solidFill>
            <a:srgbClr val="C4D600"/>
          </a:solidFill>
          <a:ln>
            <a:solidFill>
              <a:srgbClr val="C4D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highlight>
                <a:srgbClr val="C4D600"/>
              </a:highlight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26D472C-AC38-5954-1DB2-11EB75A3E644}"/>
              </a:ext>
            </a:extLst>
          </p:cNvPr>
          <p:cNvSpPr txBox="1">
            <a:spLocks/>
          </p:cNvSpPr>
          <p:nvPr/>
        </p:nvSpPr>
        <p:spPr>
          <a:xfrm>
            <a:off x="6262814" y="4415038"/>
            <a:ext cx="5400358" cy="725001"/>
          </a:xfrm>
          <a:prstGeom prst="rect">
            <a:avLst/>
          </a:prstGeom>
        </p:spPr>
        <p:txBody>
          <a:bodyPr lIns="91440" tIns="45720" rIns="91440" bIns="45720" anchor="t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3000" b="1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cs typeface="Arial"/>
              </a:rPr>
              <a:t>Mesterséges</a:t>
            </a:r>
            <a:r>
              <a:rPr kumimoji="0" lang="en-GB" sz="30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3000" b="1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cs typeface="Arial"/>
              </a:rPr>
              <a:t>Intelligencia</a:t>
            </a:r>
            <a:r>
              <a:rPr kumimoji="0" lang="en-GB" sz="30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3000" b="1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cs typeface="Arial"/>
              </a:rPr>
              <a:t>tananyag</a:t>
            </a:r>
            <a:r>
              <a:rPr kumimoji="0" lang="en-GB" sz="30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cs typeface="Arial"/>
              </a:rPr>
              <a:t> – 9. </a:t>
            </a:r>
            <a:r>
              <a:rPr kumimoji="0" lang="en-GB" sz="3000" b="1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cs typeface="Arial"/>
              </a:rPr>
              <a:t>osztály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3000" b="1" i="0" u="none" strike="noStrike" kern="1200" cap="none" spc="0" normalizeH="0" baseline="0" noProof="0">
              <a:ln>
                <a:noFill/>
              </a:ln>
              <a:solidFill>
                <a:srgbClr val="196B2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299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86648-0387-3608-857B-FB81F522D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2B8C6EC-A0FF-8682-F653-A5FA8E1B929D}"/>
              </a:ext>
            </a:extLst>
          </p:cNvPr>
          <p:cNvGrpSpPr/>
          <p:nvPr/>
        </p:nvGrpSpPr>
        <p:grpSpPr>
          <a:xfrm>
            <a:off x="-3383" y="3822191"/>
            <a:ext cx="3035808" cy="3035808"/>
            <a:chOff x="0" y="2295525"/>
            <a:chExt cx="4557712" cy="4557712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53AB7C3A-C256-96E5-05BD-8C1DAD398EEE}"/>
                </a:ext>
              </a:extLst>
            </p:cNvPr>
            <p:cNvSpPr/>
            <p:nvPr/>
          </p:nvSpPr>
          <p:spPr>
            <a:xfrm>
              <a:off x="0" y="5710237"/>
              <a:ext cx="1143000" cy="1143000"/>
            </a:xfrm>
            <a:custGeom>
              <a:avLst/>
              <a:gdLst>
                <a:gd name="connsiteX0" fmla="*/ 1143000 w 1143000"/>
                <a:gd name="connsiteY0" fmla="*/ 1143000 h 1143000"/>
                <a:gd name="connsiteX1" fmla="*/ 0 w 1143000"/>
                <a:gd name="connsiteY1" fmla="*/ 1143000 h 1143000"/>
                <a:gd name="connsiteX2" fmla="*/ 0 w 1143000"/>
                <a:gd name="connsiteY2" fmla="*/ 0 h 1143000"/>
                <a:gd name="connsiteX3" fmla="*/ 1143000 w 1143000"/>
                <a:gd name="connsiteY3" fmla="*/ 114300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00" h="1143000">
                  <a:moveTo>
                    <a:pt x="1143000" y="1143000"/>
                  </a:moveTo>
                  <a:lnTo>
                    <a:pt x="0" y="1143000"/>
                  </a:lnTo>
                  <a:lnTo>
                    <a:pt x="0" y="0"/>
                  </a:lnTo>
                  <a:lnTo>
                    <a:pt x="1143000" y="1143000"/>
                  </a:lnTo>
                  <a:close/>
                </a:path>
              </a:pathLst>
            </a:custGeom>
            <a:solidFill>
              <a:srgbClr val="C4D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E2A0492-FEF1-8676-A6FF-1F7B2D27F139}"/>
                </a:ext>
              </a:extLst>
            </p:cNvPr>
            <p:cNvSpPr/>
            <p:nvPr/>
          </p:nvSpPr>
          <p:spPr>
            <a:xfrm>
              <a:off x="1143000" y="5145881"/>
              <a:ext cx="3414712" cy="1707356"/>
            </a:xfrm>
            <a:custGeom>
              <a:avLst/>
              <a:gdLst>
                <a:gd name="connsiteX0" fmla="*/ 0 w 3414712"/>
                <a:gd name="connsiteY0" fmla="*/ 1707356 h 1707356"/>
                <a:gd name="connsiteX1" fmla="*/ 1707356 w 3414712"/>
                <a:gd name="connsiteY1" fmla="*/ 0 h 1707356"/>
                <a:gd name="connsiteX2" fmla="*/ 3414713 w 3414712"/>
                <a:gd name="connsiteY2" fmla="*/ 1707356 h 1707356"/>
                <a:gd name="connsiteX3" fmla="*/ 0 w 3414712"/>
                <a:gd name="connsiteY3" fmla="*/ 1707356 h 1707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14712" h="1707356">
                  <a:moveTo>
                    <a:pt x="0" y="1707356"/>
                  </a:moveTo>
                  <a:lnTo>
                    <a:pt x="1707356" y="0"/>
                  </a:lnTo>
                  <a:lnTo>
                    <a:pt x="3414713" y="1707356"/>
                  </a:lnTo>
                  <a:lnTo>
                    <a:pt x="0" y="1707356"/>
                  </a:lnTo>
                  <a:close/>
                </a:path>
              </a:pathLst>
            </a:custGeom>
            <a:solidFill>
              <a:srgbClr val="009CD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7C594E7-F8E4-5615-3E31-74794ECD3C29}"/>
                </a:ext>
              </a:extLst>
            </p:cNvPr>
            <p:cNvSpPr/>
            <p:nvPr/>
          </p:nvSpPr>
          <p:spPr>
            <a:xfrm>
              <a:off x="0" y="2295525"/>
              <a:ext cx="2042159" cy="2850356"/>
            </a:xfrm>
            <a:custGeom>
              <a:avLst/>
              <a:gdLst>
                <a:gd name="connsiteX0" fmla="*/ 0 w 2042159"/>
                <a:gd name="connsiteY0" fmla="*/ 0 h 2850356"/>
                <a:gd name="connsiteX1" fmla="*/ 0 w 2042159"/>
                <a:gd name="connsiteY1" fmla="*/ 1616488 h 2850356"/>
                <a:gd name="connsiteX2" fmla="*/ 1233868 w 2042159"/>
                <a:gd name="connsiteY2" fmla="*/ 2850356 h 2850356"/>
                <a:gd name="connsiteX3" fmla="*/ 2042160 w 2042159"/>
                <a:gd name="connsiteY3" fmla="*/ 2042160 h 2850356"/>
                <a:gd name="connsiteX4" fmla="*/ 0 w 2042159"/>
                <a:gd name="connsiteY4" fmla="*/ 0 h 2850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2159" h="2850356">
                  <a:moveTo>
                    <a:pt x="0" y="0"/>
                  </a:moveTo>
                  <a:lnTo>
                    <a:pt x="0" y="1616488"/>
                  </a:lnTo>
                  <a:lnTo>
                    <a:pt x="1233868" y="2850356"/>
                  </a:lnTo>
                  <a:lnTo>
                    <a:pt x="2042160" y="2042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0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9D9634F-BF95-AFDD-A6CC-89E34EB15BDB}"/>
              </a:ext>
            </a:extLst>
          </p:cNvPr>
          <p:cNvSpPr txBox="1">
            <a:spLocks/>
          </p:cNvSpPr>
          <p:nvPr/>
        </p:nvSpPr>
        <p:spPr>
          <a:xfrm>
            <a:off x="340297" y="713011"/>
            <a:ext cx="5577871" cy="847580"/>
          </a:xfrm>
          <a:prstGeom prst="rect">
            <a:avLst/>
          </a:prstGeom>
        </p:spPr>
        <p:txBody>
          <a:bodyPr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GB" sz="5500" b="1" err="1">
                <a:solidFill>
                  <a:srgbClr val="00426A"/>
                </a:solidFill>
                <a:ea typeface="+mj-lt"/>
                <a:cs typeface="+mj-lt"/>
              </a:rPr>
              <a:t>Bevezető</a:t>
            </a:r>
            <a:r>
              <a:rPr lang="en-GB" sz="5500" b="1">
                <a:solidFill>
                  <a:srgbClr val="00426A"/>
                </a:solidFill>
                <a:ea typeface="+mj-lt"/>
                <a:cs typeface="+mj-lt"/>
              </a:rPr>
              <a:t> </a:t>
            </a:r>
            <a:r>
              <a:rPr lang="en-GB" sz="5500" b="1" err="1">
                <a:solidFill>
                  <a:srgbClr val="00426A"/>
                </a:solidFill>
                <a:ea typeface="+mj-lt"/>
                <a:cs typeface="+mj-lt"/>
              </a:rPr>
              <a:t>feladat</a:t>
            </a:r>
            <a:endParaRPr lang="hu-HU" sz="5500" b="1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ED12176-3D7A-27E4-FE8F-5834E84B36CD}"/>
              </a:ext>
            </a:extLst>
          </p:cNvPr>
          <p:cNvSpPr txBox="1">
            <a:spLocks/>
          </p:cNvSpPr>
          <p:nvPr/>
        </p:nvSpPr>
        <p:spPr>
          <a:xfrm>
            <a:off x="447948" y="2104583"/>
            <a:ext cx="11449409" cy="867926"/>
          </a:xfrm>
          <a:prstGeom prst="rect">
            <a:avLst/>
          </a:prstGeom>
        </p:spPr>
        <p:txBody>
          <a:bodyPr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GB" sz="2800" err="1">
                <a:solidFill>
                  <a:srgbClr val="00426A"/>
                </a:solidFill>
                <a:ea typeface="+mj-lt"/>
                <a:cs typeface="+mj-lt"/>
              </a:rPr>
              <a:t>Egészítsétek</a:t>
            </a:r>
            <a:r>
              <a:rPr lang="en-GB" sz="2800">
                <a:solidFill>
                  <a:srgbClr val="00426A"/>
                </a:solidFill>
                <a:ea typeface="+mj-lt"/>
                <a:cs typeface="+mj-lt"/>
              </a:rPr>
              <a:t> ki a </a:t>
            </a:r>
            <a:r>
              <a:rPr lang="en-GB" sz="2800" err="1">
                <a:solidFill>
                  <a:srgbClr val="00426A"/>
                </a:solidFill>
                <a:ea typeface="+mj-lt"/>
                <a:cs typeface="+mj-lt"/>
              </a:rPr>
              <a:t>hiányos</a:t>
            </a:r>
            <a:r>
              <a:rPr lang="en-GB" sz="2800">
                <a:solidFill>
                  <a:srgbClr val="00426A"/>
                </a:solidFill>
                <a:ea typeface="+mj-lt"/>
                <a:cs typeface="+mj-lt"/>
              </a:rPr>
              <a:t> </a:t>
            </a:r>
            <a:r>
              <a:rPr lang="en-GB" sz="2800" err="1">
                <a:solidFill>
                  <a:srgbClr val="00426A"/>
                </a:solidFill>
                <a:ea typeface="+mj-lt"/>
                <a:cs typeface="+mj-lt"/>
              </a:rPr>
              <a:t>mondatokat</a:t>
            </a:r>
            <a:r>
              <a:rPr lang="en-GB" sz="2800">
                <a:solidFill>
                  <a:srgbClr val="00426A"/>
                </a:solidFill>
                <a:ea typeface="+mj-lt"/>
                <a:cs typeface="+mj-lt"/>
              </a:rPr>
              <a:t>! („…” </a:t>
            </a:r>
            <a:r>
              <a:rPr lang="en-GB" sz="2800" err="1">
                <a:solidFill>
                  <a:srgbClr val="00426A"/>
                </a:solidFill>
                <a:ea typeface="+mj-lt"/>
                <a:cs typeface="+mj-lt"/>
              </a:rPr>
              <a:t>helyére</a:t>
            </a:r>
            <a:r>
              <a:rPr lang="en-GB" sz="2800">
                <a:solidFill>
                  <a:srgbClr val="00426A"/>
                </a:solidFill>
                <a:ea typeface="+mj-lt"/>
                <a:cs typeface="+mj-lt"/>
              </a:rPr>
              <a:t> </a:t>
            </a:r>
            <a:r>
              <a:rPr lang="en-GB" sz="2800" err="1">
                <a:solidFill>
                  <a:srgbClr val="00426A"/>
                </a:solidFill>
                <a:ea typeface="+mj-lt"/>
                <a:cs typeface="+mj-lt"/>
              </a:rPr>
              <a:t>találjátok</a:t>
            </a:r>
            <a:r>
              <a:rPr lang="en-GB" sz="2800">
                <a:solidFill>
                  <a:srgbClr val="00426A"/>
                </a:solidFill>
                <a:ea typeface="+mj-lt"/>
                <a:cs typeface="+mj-lt"/>
              </a:rPr>
              <a:t> ki  a </a:t>
            </a:r>
            <a:r>
              <a:rPr lang="en-GB" sz="2800" err="1">
                <a:solidFill>
                  <a:srgbClr val="00426A"/>
                </a:solidFill>
                <a:ea typeface="+mj-lt"/>
                <a:cs typeface="+mj-lt"/>
              </a:rPr>
              <a:t>hiányzó</a:t>
            </a:r>
            <a:r>
              <a:rPr lang="en-GB" sz="2800">
                <a:solidFill>
                  <a:srgbClr val="00426A"/>
                </a:solidFill>
                <a:ea typeface="+mj-lt"/>
                <a:cs typeface="+mj-lt"/>
              </a:rPr>
              <a:t> </a:t>
            </a:r>
            <a:r>
              <a:rPr lang="en-GB" sz="2800" err="1">
                <a:solidFill>
                  <a:srgbClr val="00426A"/>
                </a:solidFill>
                <a:ea typeface="+mj-lt"/>
                <a:cs typeface="+mj-lt"/>
              </a:rPr>
              <a:t>szót</a:t>
            </a:r>
            <a:r>
              <a:rPr lang="en-GB" sz="2800">
                <a:solidFill>
                  <a:srgbClr val="00426A"/>
                </a:solidFill>
                <a:ea typeface="+mj-lt"/>
                <a:cs typeface="+mj-lt"/>
              </a:rPr>
              <a:t>.)</a:t>
            </a:r>
            <a:endParaRPr lang="hu-HU" sz="28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B14EE1B-F725-BEBC-D58A-5BBC542EB7C4}"/>
              </a:ext>
            </a:extLst>
          </p:cNvPr>
          <p:cNvSpPr/>
          <p:nvPr/>
        </p:nvSpPr>
        <p:spPr>
          <a:xfrm>
            <a:off x="451884" y="1671358"/>
            <a:ext cx="3564945" cy="45719"/>
          </a:xfrm>
          <a:prstGeom prst="rect">
            <a:avLst/>
          </a:prstGeom>
          <a:solidFill>
            <a:srgbClr val="A50050"/>
          </a:solidFill>
          <a:ln>
            <a:solidFill>
              <a:srgbClr val="A50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31" name="Csoportba foglalás 30">
            <a:extLst>
              <a:ext uri="{FF2B5EF4-FFF2-40B4-BE49-F238E27FC236}">
                <a16:creationId xmlns:a16="http://schemas.microsoft.com/office/drawing/2014/main" id="{208DC251-8DBE-7E75-1B2F-47450C16FE1D}"/>
              </a:ext>
            </a:extLst>
          </p:cNvPr>
          <p:cNvGrpSpPr/>
          <p:nvPr/>
        </p:nvGrpSpPr>
        <p:grpSpPr>
          <a:xfrm>
            <a:off x="4722522" y="2731425"/>
            <a:ext cx="7574712" cy="1446536"/>
            <a:chOff x="4630158" y="2973880"/>
            <a:chExt cx="7574712" cy="1446536"/>
          </a:xfrm>
        </p:grpSpPr>
        <p:sp>
          <p:nvSpPr>
            <p:cNvPr id="5" name="Nyíl: balra mutató 4">
              <a:extLst>
                <a:ext uri="{FF2B5EF4-FFF2-40B4-BE49-F238E27FC236}">
                  <a16:creationId xmlns:a16="http://schemas.microsoft.com/office/drawing/2014/main" id="{A766B07B-6C3B-8E12-3C45-10829512E9B1}"/>
                </a:ext>
              </a:extLst>
            </p:cNvPr>
            <p:cNvSpPr/>
            <p:nvPr/>
          </p:nvSpPr>
          <p:spPr>
            <a:xfrm>
              <a:off x="4630158" y="2973880"/>
              <a:ext cx="7574712" cy="1446536"/>
            </a:xfrm>
            <a:prstGeom prst="leftArrow">
              <a:avLst/>
            </a:prstGeom>
            <a:solidFill>
              <a:srgbClr val="0042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5" name="Szövegdoboz 24">
              <a:extLst>
                <a:ext uri="{FF2B5EF4-FFF2-40B4-BE49-F238E27FC236}">
                  <a16:creationId xmlns:a16="http://schemas.microsoft.com/office/drawing/2014/main" id="{8D662475-9AFA-2E38-4B78-DBE350EECECC}"/>
                </a:ext>
              </a:extLst>
            </p:cNvPr>
            <p:cNvSpPr txBox="1"/>
            <p:nvPr/>
          </p:nvSpPr>
          <p:spPr>
            <a:xfrm>
              <a:off x="5547096" y="3451097"/>
              <a:ext cx="6311457" cy="73866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hu-HU" sz="2400">
                  <a:solidFill>
                    <a:schemeClr val="bg1"/>
                  </a:solidFill>
                  <a:latin typeface="Aptos"/>
                  <a:cs typeface="Poppins"/>
                </a:rPr>
                <a:t>“A … felugrik az ölembe.”</a:t>
              </a:r>
              <a:endParaRPr lang="hu-HU" sz="2400">
                <a:solidFill>
                  <a:schemeClr val="bg1"/>
                </a:solidFill>
                <a:latin typeface="Aptos"/>
              </a:endParaRPr>
            </a:p>
            <a:p>
              <a:pPr algn="l"/>
              <a:endParaRPr lang="hu-HU"/>
            </a:p>
          </p:txBody>
        </p:sp>
      </p:grpSp>
      <p:grpSp>
        <p:nvGrpSpPr>
          <p:cNvPr id="33" name="Csoportba foglalás 32">
            <a:extLst>
              <a:ext uri="{FF2B5EF4-FFF2-40B4-BE49-F238E27FC236}">
                <a16:creationId xmlns:a16="http://schemas.microsoft.com/office/drawing/2014/main" id="{6BCB7973-7558-75E6-A450-C009CA42E3D6}"/>
              </a:ext>
            </a:extLst>
          </p:cNvPr>
          <p:cNvGrpSpPr/>
          <p:nvPr/>
        </p:nvGrpSpPr>
        <p:grpSpPr>
          <a:xfrm>
            <a:off x="5357521" y="3966788"/>
            <a:ext cx="7366894" cy="1446536"/>
            <a:chOff x="5357521" y="4174606"/>
            <a:chExt cx="7366894" cy="1446536"/>
          </a:xfrm>
        </p:grpSpPr>
        <p:sp>
          <p:nvSpPr>
            <p:cNvPr id="14" name="Nyíl: balra mutató 13">
              <a:extLst>
                <a:ext uri="{FF2B5EF4-FFF2-40B4-BE49-F238E27FC236}">
                  <a16:creationId xmlns:a16="http://schemas.microsoft.com/office/drawing/2014/main" id="{FF731B6E-5C46-2024-C995-0FF6AC3EDD58}"/>
                </a:ext>
              </a:extLst>
            </p:cNvPr>
            <p:cNvSpPr/>
            <p:nvPr/>
          </p:nvSpPr>
          <p:spPr>
            <a:xfrm>
              <a:off x="5357521" y="4174606"/>
              <a:ext cx="7366894" cy="1446536"/>
            </a:xfrm>
            <a:prstGeom prst="leftArrow">
              <a:avLst/>
            </a:prstGeom>
            <a:solidFill>
              <a:srgbClr val="009C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6" name="Szövegdoboz 25">
              <a:extLst>
                <a:ext uri="{FF2B5EF4-FFF2-40B4-BE49-F238E27FC236}">
                  <a16:creationId xmlns:a16="http://schemas.microsoft.com/office/drawing/2014/main" id="{A496D3CB-1D61-4430-F295-B333FBB66D4D}"/>
                </a:ext>
              </a:extLst>
            </p:cNvPr>
            <p:cNvSpPr txBox="1"/>
            <p:nvPr/>
          </p:nvSpPr>
          <p:spPr>
            <a:xfrm>
              <a:off x="6306128" y="4678219"/>
              <a:ext cx="4590472" cy="83099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hu-HU" sz="2400">
                  <a:solidFill>
                    <a:schemeClr val="bg1"/>
                  </a:solidFill>
                  <a:latin typeface="Aptos Display"/>
                </a:rPr>
                <a:t>“A hűtőm tele van …-</a:t>
              </a:r>
              <a:r>
                <a:rPr lang="hu-HU" sz="2400" err="1">
                  <a:solidFill>
                    <a:schemeClr val="bg1"/>
                  </a:solidFill>
                  <a:latin typeface="Aptos Display"/>
                </a:rPr>
                <a:t>val</a:t>
              </a:r>
              <a:r>
                <a:rPr lang="hu-HU" sz="2400">
                  <a:solidFill>
                    <a:schemeClr val="bg1"/>
                  </a:solidFill>
                  <a:latin typeface="Aptos Display"/>
                </a:rPr>
                <a:t>/vel.”</a:t>
              </a:r>
            </a:p>
            <a:p>
              <a:endParaRPr lang="hu-HU" sz="2400">
                <a:latin typeface="Poppins"/>
                <a:cs typeface="Poppins"/>
              </a:endParaRPr>
            </a:p>
          </p:txBody>
        </p:sp>
      </p:grpSp>
      <p:grpSp>
        <p:nvGrpSpPr>
          <p:cNvPr id="35" name="Csoportba foglalás 34">
            <a:extLst>
              <a:ext uri="{FF2B5EF4-FFF2-40B4-BE49-F238E27FC236}">
                <a16:creationId xmlns:a16="http://schemas.microsoft.com/office/drawing/2014/main" id="{2B50B936-EBD6-A382-11A1-3E5201E4D4FE}"/>
              </a:ext>
            </a:extLst>
          </p:cNvPr>
          <p:cNvGrpSpPr/>
          <p:nvPr/>
        </p:nvGrpSpPr>
        <p:grpSpPr>
          <a:xfrm>
            <a:off x="6096429" y="5340697"/>
            <a:ext cx="7366894" cy="1446536"/>
            <a:chOff x="6096429" y="5409970"/>
            <a:chExt cx="7366894" cy="1446536"/>
          </a:xfrm>
        </p:grpSpPr>
        <p:sp>
          <p:nvSpPr>
            <p:cNvPr id="20" name="Nyíl: balra mutató 19">
              <a:extLst>
                <a:ext uri="{FF2B5EF4-FFF2-40B4-BE49-F238E27FC236}">
                  <a16:creationId xmlns:a16="http://schemas.microsoft.com/office/drawing/2014/main" id="{70AF0F40-2A65-E5A3-2B6E-E641146D13B1}"/>
                </a:ext>
              </a:extLst>
            </p:cNvPr>
            <p:cNvSpPr/>
            <p:nvPr/>
          </p:nvSpPr>
          <p:spPr>
            <a:xfrm>
              <a:off x="6096429" y="5409970"/>
              <a:ext cx="7366894" cy="1446536"/>
            </a:xfrm>
            <a:prstGeom prst="leftArrow">
              <a:avLst/>
            </a:prstGeom>
            <a:solidFill>
              <a:srgbClr val="A50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7" name="Szövegdoboz 26">
              <a:extLst>
                <a:ext uri="{FF2B5EF4-FFF2-40B4-BE49-F238E27FC236}">
                  <a16:creationId xmlns:a16="http://schemas.microsoft.com/office/drawing/2014/main" id="{DF8E3FF3-FBEA-254D-9D58-2A9DCB3269CF}"/>
                </a:ext>
              </a:extLst>
            </p:cNvPr>
            <p:cNvSpPr txBox="1"/>
            <p:nvPr/>
          </p:nvSpPr>
          <p:spPr>
            <a:xfrm>
              <a:off x="7079673" y="5902036"/>
              <a:ext cx="4671290" cy="4616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hu-HU" sz="2400">
                  <a:solidFill>
                    <a:schemeClr val="bg1"/>
                  </a:solidFill>
                  <a:latin typeface="Aptos Display"/>
                  <a:cs typeface="Poppins"/>
                </a:rPr>
                <a:t>“A diák leül a … mellé.”</a:t>
              </a:r>
              <a:endParaRPr lang="hu-HU" sz="2400">
                <a:solidFill>
                  <a:schemeClr val="bg1"/>
                </a:solidFill>
                <a:latin typeface="Aptos Display"/>
              </a:endParaRPr>
            </a:p>
          </p:txBody>
        </p:sp>
      </p:grpSp>
      <p:sp>
        <p:nvSpPr>
          <p:cNvPr id="28" name="Beszédbuborék: ellipszis 27">
            <a:extLst>
              <a:ext uri="{FF2B5EF4-FFF2-40B4-BE49-F238E27FC236}">
                <a16:creationId xmlns:a16="http://schemas.microsoft.com/office/drawing/2014/main" id="{D4F67792-45AF-1A6D-C4F1-A0AA733616FF}"/>
              </a:ext>
            </a:extLst>
          </p:cNvPr>
          <p:cNvSpPr/>
          <p:nvPr/>
        </p:nvSpPr>
        <p:spPr>
          <a:xfrm>
            <a:off x="1524464" y="3417416"/>
            <a:ext cx="3032102" cy="1922782"/>
          </a:xfrm>
          <a:prstGeom prst="wedgeEllipseCallout">
            <a:avLst/>
          </a:prstGeom>
          <a:solidFill>
            <a:srgbClr val="C4D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6" name="Szövegdoboz 35">
            <a:extLst>
              <a:ext uri="{FF2B5EF4-FFF2-40B4-BE49-F238E27FC236}">
                <a16:creationId xmlns:a16="http://schemas.microsoft.com/office/drawing/2014/main" id="{00E3D1C2-AF4C-27ED-126B-9361DBFB9119}"/>
              </a:ext>
            </a:extLst>
          </p:cNvPr>
          <p:cNvSpPr txBox="1"/>
          <p:nvPr/>
        </p:nvSpPr>
        <p:spPr>
          <a:xfrm>
            <a:off x="1603852" y="3966798"/>
            <a:ext cx="2868537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400" b="1">
                <a:solidFill>
                  <a:schemeClr val="bg1"/>
                </a:solidFill>
              </a:rPr>
              <a:t>Honnan tudtátok, mi hiányzik?</a:t>
            </a:r>
            <a:endParaRPr lang="hu-HU" sz="2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8571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A4203-60B6-9665-8340-6917EEDBA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roup 103">
            <a:extLst>
              <a:ext uri="{FF2B5EF4-FFF2-40B4-BE49-F238E27FC236}">
                <a16:creationId xmlns:a16="http://schemas.microsoft.com/office/drawing/2014/main" id="{BDBA53F3-77C1-8813-FF81-1F0C7E9FD483}"/>
              </a:ext>
            </a:extLst>
          </p:cNvPr>
          <p:cNvGrpSpPr/>
          <p:nvPr/>
        </p:nvGrpSpPr>
        <p:grpSpPr>
          <a:xfrm>
            <a:off x="0" y="3822192"/>
            <a:ext cx="3035808" cy="3035808"/>
            <a:chOff x="0" y="2295525"/>
            <a:chExt cx="4557712" cy="4557712"/>
          </a:xfrm>
        </p:grpSpPr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E8CF245E-9A3B-4279-ACB5-BECB90F51881}"/>
                </a:ext>
              </a:extLst>
            </p:cNvPr>
            <p:cNvSpPr/>
            <p:nvPr/>
          </p:nvSpPr>
          <p:spPr>
            <a:xfrm>
              <a:off x="0" y="5710237"/>
              <a:ext cx="1143000" cy="1143000"/>
            </a:xfrm>
            <a:custGeom>
              <a:avLst/>
              <a:gdLst>
                <a:gd name="connsiteX0" fmla="*/ 1143000 w 1143000"/>
                <a:gd name="connsiteY0" fmla="*/ 1143000 h 1143000"/>
                <a:gd name="connsiteX1" fmla="*/ 0 w 1143000"/>
                <a:gd name="connsiteY1" fmla="*/ 1143000 h 1143000"/>
                <a:gd name="connsiteX2" fmla="*/ 0 w 1143000"/>
                <a:gd name="connsiteY2" fmla="*/ 0 h 1143000"/>
                <a:gd name="connsiteX3" fmla="*/ 1143000 w 1143000"/>
                <a:gd name="connsiteY3" fmla="*/ 114300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00" h="1143000">
                  <a:moveTo>
                    <a:pt x="1143000" y="1143000"/>
                  </a:moveTo>
                  <a:lnTo>
                    <a:pt x="0" y="1143000"/>
                  </a:lnTo>
                  <a:lnTo>
                    <a:pt x="0" y="0"/>
                  </a:lnTo>
                  <a:lnTo>
                    <a:pt x="1143000" y="1143000"/>
                  </a:lnTo>
                  <a:close/>
                </a:path>
              </a:pathLst>
            </a:custGeom>
            <a:solidFill>
              <a:srgbClr val="C4D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C4C66507-13ED-050A-FF2B-B25D4F09F20C}"/>
                </a:ext>
              </a:extLst>
            </p:cNvPr>
            <p:cNvSpPr/>
            <p:nvPr/>
          </p:nvSpPr>
          <p:spPr>
            <a:xfrm>
              <a:off x="1143000" y="5145881"/>
              <a:ext cx="3414712" cy="1707356"/>
            </a:xfrm>
            <a:custGeom>
              <a:avLst/>
              <a:gdLst>
                <a:gd name="connsiteX0" fmla="*/ 0 w 3414712"/>
                <a:gd name="connsiteY0" fmla="*/ 1707356 h 1707356"/>
                <a:gd name="connsiteX1" fmla="*/ 1707356 w 3414712"/>
                <a:gd name="connsiteY1" fmla="*/ 0 h 1707356"/>
                <a:gd name="connsiteX2" fmla="*/ 3414713 w 3414712"/>
                <a:gd name="connsiteY2" fmla="*/ 1707356 h 1707356"/>
                <a:gd name="connsiteX3" fmla="*/ 0 w 3414712"/>
                <a:gd name="connsiteY3" fmla="*/ 1707356 h 1707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14712" h="1707356">
                  <a:moveTo>
                    <a:pt x="0" y="1707356"/>
                  </a:moveTo>
                  <a:lnTo>
                    <a:pt x="1707356" y="0"/>
                  </a:lnTo>
                  <a:lnTo>
                    <a:pt x="3414713" y="1707356"/>
                  </a:lnTo>
                  <a:lnTo>
                    <a:pt x="0" y="1707356"/>
                  </a:lnTo>
                  <a:close/>
                </a:path>
              </a:pathLst>
            </a:custGeom>
            <a:solidFill>
              <a:srgbClr val="009CD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26159030-C177-DD28-2A34-A7E1FAC81348}"/>
                </a:ext>
              </a:extLst>
            </p:cNvPr>
            <p:cNvSpPr/>
            <p:nvPr/>
          </p:nvSpPr>
          <p:spPr>
            <a:xfrm>
              <a:off x="0" y="2295525"/>
              <a:ext cx="2042159" cy="2850356"/>
            </a:xfrm>
            <a:custGeom>
              <a:avLst/>
              <a:gdLst>
                <a:gd name="connsiteX0" fmla="*/ 0 w 2042159"/>
                <a:gd name="connsiteY0" fmla="*/ 0 h 2850356"/>
                <a:gd name="connsiteX1" fmla="*/ 0 w 2042159"/>
                <a:gd name="connsiteY1" fmla="*/ 1616488 h 2850356"/>
                <a:gd name="connsiteX2" fmla="*/ 1233868 w 2042159"/>
                <a:gd name="connsiteY2" fmla="*/ 2850356 h 2850356"/>
                <a:gd name="connsiteX3" fmla="*/ 2042160 w 2042159"/>
                <a:gd name="connsiteY3" fmla="*/ 2042160 h 2850356"/>
                <a:gd name="connsiteX4" fmla="*/ 0 w 2042159"/>
                <a:gd name="connsiteY4" fmla="*/ 0 h 2850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2159" h="2850356">
                  <a:moveTo>
                    <a:pt x="0" y="0"/>
                  </a:moveTo>
                  <a:lnTo>
                    <a:pt x="0" y="1616488"/>
                  </a:lnTo>
                  <a:lnTo>
                    <a:pt x="1233868" y="2850356"/>
                  </a:lnTo>
                  <a:lnTo>
                    <a:pt x="2042160" y="2042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0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7631AE21-5EE5-647F-6A31-8390B77F2DE4}"/>
              </a:ext>
            </a:extLst>
          </p:cNvPr>
          <p:cNvSpPr txBox="1">
            <a:spLocks/>
          </p:cNvSpPr>
          <p:nvPr/>
        </p:nvSpPr>
        <p:spPr>
          <a:xfrm>
            <a:off x="657243" y="498361"/>
            <a:ext cx="2392596" cy="684317"/>
          </a:xfrm>
          <a:prstGeom prst="rect">
            <a:avLst/>
          </a:prstGeom>
        </p:spPr>
        <p:txBody>
          <a:bodyPr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tabLst/>
              <a:defRPr/>
            </a:pPr>
            <a:r>
              <a:rPr lang="en-GB" sz="6600" b="1">
                <a:solidFill>
                  <a:srgbClr val="00426A"/>
                </a:solidFill>
                <a:latin typeface="Arial"/>
                <a:cs typeface="Arial"/>
              </a:rPr>
              <a:t>NLP</a:t>
            </a:r>
            <a:endParaRPr lang="hu-HU" sz="6600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DE438C2B-19E0-06B4-0C5D-844E8D6B1C15}"/>
              </a:ext>
            </a:extLst>
          </p:cNvPr>
          <p:cNvSpPr/>
          <p:nvPr/>
        </p:nvSpPr>
        <p:spPr>
          <a:xfrm>
            <a:off x="654099" y="1485268"/>
            <a:ext cx="2156537" cy="91577"/>
          </a:xfrm>
          <a:prstGeom prst="rect">
            <a:avLst/>
          </a:prstGeom>
          <a:solidFill>
            <a:srgbClr val="A50050"/>
          </a:solidFill>
          <a:ln>
            <a:solidFill>
              <a:srgbClr val="A50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8D23093-7018-EE16-F29B-43BDF14FA044}"/>
              </a:ext>
            </a:extLst>
          </p:cNvPr>
          <p:cNvSpPr/>
          <p:nvPr/>
        </p:nvSpPr>
        <p:spPr>
          <a:xfrm>
            <a:off x="6112451" y="-805"/>
            <a:ext cx="6075694" cy="6860666"/>
          </a:xfrm>
          <a:prstGeom prst="rect">
            <a:avLst/>
          </a:prstGeom>
          <a:solidFill>
            <a:srgbClr val="0042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BE018BD2-48E8-C861-260A-F1959CBC23B0}"/>
              </a:ext>
            </a:extLst>
          </p:cNvPr>
          <p:cNvSpPr txBox="1"/>
          <p:nvPr/>
        </p:nvSpPr>
        <p:spPr>
          <a:xfrm>
            <a:off x="653420" y="1943654"/>
            <a:ext cx="210269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3200" b="1">
                <a:solidFill>
                  <a:srgbClr val="00426A"/>
                </a:solidFill>
              </a:rPr>
              <a:t>Mi ez?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9A63A580-ECA1-3B50-B101-522FB56F2335}"/>
              </a:ext>
            </a:extLst>
          </p:cNvPr>
          <p:cNvSpPr txBox="1"/>
          <p:nvPr/>
        </p:nvSpPr>
        <p:spPr>
          <a:xfrm>
            <a:off x="657853" y="2821248"/>
            <a:ext cx="466204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400">
                <a:solidFill>
                  <a:srgbClr val="00426A"/>
                </a:solidFill>
                <a:ea typeface="+mn-lt"/>
                <a:cs typeface="+mn-lt"/>
              </a:rPr>
              <a:t>NLP = természetes nyelvfeldolgozás (</a:t>
            </a:r>
            <a:r>
              <a:rPr lang="hu-HU" sz="2400" err="1">
                <a:solidFill>
                  <a:srgbClr val="00426A"/>
                </a:solidFill>
                <a:ea typeface="+mn-lt"/>
                <a:cs typeface="+mn-lt"/>
              </a:rPr>
              <a:t>Natural</a:t>
            </a:r>
            <a:r>
              <a:rPr lang="hu-HU" sz="2400">
                <a:solidFill>
                  <a:srgbClr val="00426A"/>
                </a:solidFill>
                <a:ea typeface="+mn-lt"/>
                <a:cs typeface="+mn-lt"/>
              </a:rPr>
              <a:t> </a:t>
            </a:r>
            <a:r>
              <a:rPr lang="hu-HU" sz="2400" err="1">
                <a:solidFill>
                  <a:srgbClr val="00426A"/>
                </a:solidFill>
                <a:ea typeface="+mn-lt"/>
                <a:cs typeface="+mn-lt"/>
              </a:rPr>
              <a:t>Language</a:t>
            </a:r>
            <a:r>
              <a:rPr lang="hu-HU" sz="2400">
                <a:solidFill>
                  <a:srgbClr val="00426A"/>
                </a:solidFill>
                <a:ea typeface="+mn-lt"/>
                <a:cs typeface="+mn-lt"/>
              </a:rPr>
              <a:t> </a:t>
            </a:r>
            <a:r>
              <a:rPr lang="hu-HU" sz="2400" err="1">
                <a:solidFill>
                  <a:srgbClr val="00426A"/>
                </a:solidFill>
                <a:ea typeface="+mn-lt"/>
                <a:cs typeface="+mn-lt"/>
              </a:rPr>
              <a:t>Processing</a:t>
            </a:r>
            <a:r>
              <a:rPr lang="hu-HU" sz="2400">
                <a:solidFill>
                  <a:srgbClr val="00426A"/>
                </a:solidFill>
                <a:ea typeface="+mn-lt"/>
                <a:cs typeface="+mn-lt"/>
              </a:rPr>
              <a:t>)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B11708E2-3334-2AD9-11FB-317461830528}"/>
              </a:ext>
            </a:extLst>
          </p:cNvPr>
          <p:cNvSpPr txBox="1"/>
          <p:nvPr/>
        </p:nvSpPr>
        <p:spPr>
          <a:xfrm>
            <a:off x="8107452" y="1938737"/>
            <a:ext cx="357905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hu-HU" sz="2800" b="1">
                <a:solidFill>
                  <a:schemeClr val="bg1"/>
                </a:solidFill>
                <a:ea typeface="+mn-lt"/>
                <a:cs typeface="+mn-lt"/>
              </a:rPr>
              <a:t>Az MI egyik területe:</a:t>
            </a:r>
            <a:endParaRPr lang="hu-HU" sz="2800" b="1">
              <a:solidFill>
                <a:schemeClr val="bg1"/>
              </a:solidFill>
            </a:endParaRP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2498ED5B-91D2-6073-1491-917F109A76F4}"/>
              </a:ext>
            </a:extLst>
          </p:cNvPr>
          <p:cNvSpPr txBox="1"/>
          <p:nvPr/>
        </p:nvSpPr>
        <p:spPr>
          <a:xfrm>
            <a:off x="7937448" y="2640200"/>
            <a:ext cx="3743098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r">
              <a:buFont typeface="Arial"/>
              <a:buChar char="•"/>
            </a:pPr>
            <a:r>
              <a:rPr lang="hu-HU" sz="2400">
                <a:solidFill>
                  <a:schemeClr val="bg1"/>
                </a:solidFill>
                <a:ea typeface="+mn-lt"/>
                <a:cs typeface="+mn-lt"/>
              </a:rPr>
              <a:t>szövegek értelmezése</a:t>
            </a:r>
            <a:endParaRPr lang="hu-HU" sz="2400">
              <a:solidFill>
                <a:schemeClr val="bg1"/>
              </a:solidFill>
            </a:endParaRPr>
          </a:p>
          <a:p>
            <a:pPr marL="285750" indent="-285750" algn="r">
              <a:buFont typeface="Arial"/>
              <a:buChar char="•"/>
            </a:pPr>
            <a:r>
              <a:rPr lang="hu-HU" sz="2400">
                <a:solidFill>
                  <a:schemeClr val="bg1"/>
                </a:solidFill>
                <a:ea typeface="+mn-lt"/>
                <a:cs typeface="+mn-lt"/>
              </a:rPr>
              <a:t>fordítás</a:t>
            </a:r>
            <a:endParaRPr lang="hu-HU" sz="2400">
              <a:solidFill>
                <a:schemeClr val="bg1"/>
              </a:solidFill>
            </a:endParaRPr>
          </a:p>
          <a:p>
            <a:pPr marL="285750" indent="-285750" algn="r">
              <a:buFont typeface="Arial"/>
              <a:buChar char="•"/>
            </a:pPr>
            <a:r>
              <a:rPr lang="hu-HU" sz="2400">
                <a:solidFill>
                  <a:schemeClr val="bg1"/>
                </a:solidFill>
                <a:ea typeface="+mn-lt"/>
                <a:cs typeface="+mn-lt"/>
              </a:rPr>
              <a:t>kérdésekre válasz</a:t>
            </a:r>
            <a:endParaRPr lang="hu-HU" sz="2400">
              <a:solidFill>
                <a:schemeClr val="bg1"/>
              </a:solidFill>
            </a:endParaRPr>
          </a:p>
          <a:p>
            <a:pPr marL="285750" indent="-285750" algn="r">
              <a:buFont typeface="Arial"/>
              <a:buChar char="•"/>
            </a:pPr>
            <a:r>
              <a:rPr lang="hu-HU" sz="2400">
                <a:solidFill>
                  <a:schemeClr val="bg1"/>
                </a:solidFill>
                <a:ea typeface="+mn-lt"/>
                <a:cs typeface="+mn-lt"/>
              </a:rPr>
              <a:t>beszédfelismerés</a:t>
            </a:r>
            <a:endParaRPr lang="hu-HU">
              <a:solidFill>
                <a:schemeClr val="bg1"/>
              </a:solidFill>
            </a:endParaRPr>
          </a:p>
        </p:txBody>
      </p:sp>
      <p:pic>
        <p:nvPicPr>
          <p:cNvPr id="11" name="Kép 10" descr="A képen Grafika, Betűtípus, kör, szöveg látható&#10;&#10;Lehet, hogy az AI által létrehozott tartalom helytelen.">
            <a:extLst>
              <a:ext uri="{FF2B5EF4-FFF2-40B4-BE49-F238E27FC236}">
                <a16:creationId xmlns:a16="http://schemas.microsoft.com/office/drawing/2014/main" id="{070ED264-8E39-8191-BFA7-EEF70C4E9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3521" y="441739"/>
            <a:ext cx="4030871" cy="4041914"/>
          </a:xfrm>
          <a:prstGeom prst="rect">
            <a:avLst/>
          </a:prstGeom>
        </p:spPr>
      </p:pic>
      <p:pic>
        <p:nvPicPr>
          <p:cNvPr id="12" name="Kép 11" descr="A képen szöveg, képernyőkép, Grafika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7A718198-4F75-DD1A-DED2-C385DF919A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8999" y="3821043"/>
            <a:ext cx="3059045" cy="3180522"/>
          </a:xfrm>
          <a:prstGeom prst="rect">
            <a:avLst/>
          </a:prstGeom>
        </p:spPr>
      </p:pic>
      <p:sp>
        <p:nvSpPr>
          <p:cNvPr id="13" name="Szövegdoboz 12">
            <a:extLst>
              <a:ext uri="{FF2B5EF4-FFF2-40B4-BE49-F238E27FC236}">
                <a16:creationId xmlns:a16="http://schemas.microsoft.com/office/drawing/2014/main" id="{9C74361D-388B-5158-2D91-86C96FF7378F}"/>
              </a:ext>
            </a:extLst>
          </p:cNvPr>
          <p:cNvSpPr txBox="1"/>
          <p:nvPr/>
        </p:nvSpPr>
        <p:spPr>
          <a:xfrm>
            <a:off x="8521221" y="4812946"/>
            <a:ext cx="3161501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hu-HU" sz="2400" b="1">
                <a:solidFill>
                  <a:schemeClr val="bg1"/>
                </a:solidFill>
                <a:ea typeface="+mn-lt"/>
                <a:cs typeface="+mn-lt"/>
              </a:rPr>
              <a:t>Fontos:</a:t>
            </a:r>
            <a:r>
              <a:rPr lang="hu-HU" sz="2400">
                <a:solidFill>
                  <a:schemeClr val="bg1"/>
                </a:solidFill>
                <a:ea typeface="+mn-lt"/>
                <a:cs typeface="+mn-lt"/>
              </a:rPr>
              <a:t> az MI nem „érti” a nyelvet, hanem </a:t>
            </a:r>
            <a:r>
              <a:rPr lang="hu-HU" sz="2400" err="1">
                <a:solidFill>
                  <a:schemeClr val="bg1"/>
                </a:solidFill>
                <a:ea typeface="+mn-lt"/>
                <a:cs typeface="+mn-lt"/>
              </a:rPr>
              <a:t>mintázatokat</a:t>
            </a:r>
            <a:r>
              <a:rPr lang="hu-HU" sz="2400">
                <a:solidFill>
                  <a:schemeClr val="bg1"/>
                </a:solidFill>
                <a:ea typeface="+mn-lt"/>
                <a:cs typeface="+mn-lt"/>
              </a:rPr>
              <a:t> keres.</a:t>
            </a:r>
            <a:endParaRPr lang="hu-HU" sz="2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3339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1" descr="A képen képernyőkép, áramkör látható&#10;&#10;Lehet, hogy az AI által létrehozott tartalom helytelen.">
            <a:extLst>
              <a:ext uri="{FF2B5EF4-FFF2-40B4-BE49-F238E27FC236}">
                <a16:creationId xmlns:a16="http://schemas.microsoft.com/office/drawing/2014/main" id="{FE1FB1C4-C2B7-3B22-8D80-2B6FBF714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9307" y="0"/>
            <a:ext cx="12215446" cy="12215446"/>
          </a:xfrm>
          <a:prstGeom prst="rect">
            <a:avLst/>
          </a:prstGeom>
        </p:spPr>
      </p:pic>
      <p:sp>
        <p:nvSpPr>
          <p:cNvPr id="6" name="Téglalap: lekerekített 5">
            <a:extLst>
              <a:ext uri="{FF2B5EF4-FFF2-40B4-BE49-F238E27FC236}">
                <a16:creationId xmlns:a16="http://schemas.microsoft.com/office/drawing/2014/main" id="{D837424B-5DBF-F720-AA39-338ED4B0F312}"/>
              </a:ext>
            </a:extLst>
          </p:cNvPr>
          <p:cNvSpPr/>
          <p:nvPr/>
        </p:nvSpPr>
        <p:spPr>
          <a:xfrm>
            <a:off x="709028" y="4183262"/>
            <a:ext cx="2924738" cy="138260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3" name="Ábra 2" descr="Mappa egyszínű kitöltéssel">
            <a:extLst>
              <a:ext uri="{FF2B5EF4-FFF2-40B4-BE49-F238E27FC236}">
                <a16:creationId xmlns:a16="http://schemas.microsoft.com/office/drawing/2014/main" id="{91550982-EE7A-DE7B-4A42-0ED05F3415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261142" y="2221928"/>
            <a:ext cx="4783419" cy="4783419"/>
          </a:xfrm>
          <a:prstGeom prst="rect">
            <a:avLst/>
          </a:prstGeom>
        </p:spPr>
      </p:pic>
      <p:sp>
        <p:nvSpPr>
          <p:cNvPr id="7" name="Téglalap: lekerekített 6">
            <a:extLst>
              <a:ext uri="{FF2B5EF4-FFF2-40B4-BE49-F238E27FC236}">
                <a16:creationId xmlns:a16="http://schemas.microsoft.com/office/drawing/2014/main" id="{5DB74B31-EBA6-01F7-E1B7-69820DA0751D}"/>
              </a:ext>
            </a:extLst>
          </p:cNvPr>
          <p:cNvSpPr/>
          <p:nvPr/>
        </p:nvSpPr>
        <p:spPr>
          <a:xfrm>
            <a:off x="4637269" y="4183262"/>
            <a:ext cx="2924738" cy="138260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4" name="Ábra 3" descr="Mappa egyszínű kitöltéssel">
            <a:extLst>
              <a:ext uri="{FF2B5EF4-FFF2-40B4-BE49-F238E27FC236}">
                <a16:creationId xmlns:a16="http://schemas.microsoft.com/office/drawing/2014/main" id="{65316E72-7F77-6D7C-D2AD-CAB9E4A5C3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06514" y="2221928"/>
            <a:ext cx="4783419" cy="4783419"/>
          </a:xfrm>
          <a:prstGeom prst="rect">
            <a:avLst/>
          </a:prstGeom>
        </p:spPr>
      </p:pic>
      <p:sp>
        <p:nvSpPr>
          <p:cNvPr id="8" name="Téglalap: lekerekített 7">
            <a:extLst>
              <a:ext uri="{FF2B5EF4-FFF2-40B4-BE49-F238E27FC236}">
                <a16:creationId xmlns:a16="http://schemas.microsoft.com/office/drawing/2014/main" id="{69272D85-8C86-E329-5AB3-983B0F4D95B5}"/>
              </a:ext>
            </a:extLst>
          </p:cNvPr>
          <p:cNvSpPr/>
          <p:nvPr/>
        </p:nvSpPr>
        <p:spPr>
          <a:xfrm>
            <a:off x="8565510" y="4183261"/>
            <a:ext cx="2924738" cy="138260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5" name="Ábra 4" descr="Mappa egyszínű kitöltéssel">
            <a:extLst>
              <a:ext uri="{FF2B5EF4-FFF2-40B4-BE49-F238E27FC236}">
                <a16:creationId xmlns:a16="http://schemas.microsoft.com/office/drawing/2014/main" id="{48F21F40-710C-1259-7172-F86DD831EC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34755" y="2221928"/>
            <a:ext cx="4783419" cy="4783419"/>
          </a:xfrm>
          <a:prstGeom prst="rect">
            <a:avLst/>
          </a:prstGeom>
        </p:spPr>
      </p:pic>
      <p:sp>
        <p:nvSpPr>
          <p:cNvPr id="10" name="Szövegdoboz 9">
            <a:extLst>
              <a:ext uri="{FF2B5EF4-FFF2-40B4-BE49-F238E27FC236}">
                <a16:creationId xmlns:a16="http://schemas.microsoft.com/office/drawing/2014/main" id="{4FBE0052-739F-7039-67CA-8F816F7E6FC5}"/>
              </a:ext>
            </a:extLst>
          </p:cNvPr>
          <p:cNvSpPr txBox="1"/>
          <p:nvPr/>
        </p:nvSpPr>
        <p:spPr>
          <a:xfrm>
            <a:off x="2417152" y="285066"/>
            <a:ext cx="733720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4000" b="1">
                <a:solidFill>
                  <a:schemeClr val="bg1"/>
                </a:solidFill>
                <a:latin typeface="Aptos Display"/>
                <a:cs typeface="Poppins"/>
              </a:rPr>
              <a:t>Szöveg darabolása (</a:t>
            </a:r>
            <a:r>
              <a:rPr lang="hu-HU" sz="4000" b="1" err="1">
                <a:solidFill>
                  <a:schemeClr val="bg1"/>
                </a:solidFill>
                <a:latin typeface="Aptos Display"/>
                <a:cs typeface="Poppins"/>
              </a:rPr>
              <a:t>tokenizálás</a:t>
            </a:r>
            <a:r>
              <a:rPr lang="hu-HU" sz="4000" b="1">
                <a:solidFill>
                  <a:schemeClr val="bg1"/>
                </a:solidFill>
                <a:latin typeface="Aptos Display"/>
                <a:cs typeface="Poppins"/>
              </a:rPr>
              <a:t>)</a:t>
            </a:r>
            <a:endParaRPr lang="hu-HU" sz="4000" b="1">
              <a:solidFill>
                <a:schemeClr val="bg1"/>
              </a:solidFill>
              <a:latin typeface="Aptos Display"/>
            </a:endParaRPr>
          </a:p>
        </p:txBody>
      </p:sp>
      <p:sp>
        <p:nvSpPr>
          <p:cNvPr id="12" name="Rectangle 30">
            <a:extLst>
              <a:ext uri="{FF2B5EF4-FFF2-40B4-BE49-F238E27FC236}">
                <a16:creationId xmlns:a16="http://schemas.microsoft.com/office/drawing/2014/main" id="{3813BF5B-57ED-624B-9127-E329240A0E80}"/>
              </a:ext>
            </a:extLst>
          </p:cNvPr>
          <p:cNvSpPr/>
          <p:nvPr/>
        </p:nvSpPr>
        <p:spPr>
          <a:xfrm>
            <a:off x="2427720" y="999165"/>
            <a:ext cx="7135812" cy="12750"/>
          </a:xfrm>
          <a:prstGeom prst="rect">
            <a:avLst/>
          </a:prstGeom>
          <a:solidFill>
            <a:srgbClr val="A50050"/>
          </a:solidFill>
          <a:ln>
            <a:solidFill>
              <a:srgbClr val="A50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78550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91681-7F3C-AE92-5D5D-4630F704E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1" descr="A képen képernyőkép, áramkör látható&#10;&#10;Lehet, hogy az AI által létrehozott tartalom helytelen.">
            <a:extLst>
              <a:ext uri="{FF2B5EF4-FFF2-40B4-BE49-F238E27FC236}">
                <a16:creationId xmlns:a16="http://schemas.microsoft.com/office/drawing/2014/main" id="{9B6DA8E0-1382-DAAA-B59E-B3243483C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9307" y="0"/>
            <a:ext cx="12215446" cy="12215446"/>
          </a:xfrm>
          <a:prstGeom prst="rect">
            <a:avLst/>
          </a:prstGeom>
        </p:spPr>
      </p:pic>
      <p:sp>
        <p:nvSpPr>
          <p:cNvPr id="6" name="Téglalap: lekerekített 5">
            <a:extLst>
              <a:ext uri="{FF2B5EF4-FFF2-40B4-BE49-F238E27FC236}">
                <a16:creationId xmlns:a16="http://schemas.microsoft.com/office/drawing/2014/main" id="{48A914C1-3A69-6090-8964-B0C744E5F268}"/>
              </a:ext>
            </a:extLst>
          </p:cNvPr>
          <p:cNvSpPr/>
          <p:nvPr/>
        </p:nvSpPr>
        <p:spPr>
          <a:xfrm>
            <a:off x="709028" y="1739607"/>
            <a:ext cx="2977289" cy="382625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3" name="Ábra 2" descr="Mappa egyszínű kitöltéssel">
            <a:extLst>
              <a:ext uri="{FF2B5EF4-FFF2-40B4-BE49-F238E27FC236}">
                <a16:creationId xmlns:a16="http://schemas.microsoft.com/office/drawing/2014/main" id="{819A5857-676D-6A84-AEB1-042678120F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95452" y="3430617"/>
            <a:ext cx="4783419" cy="4783419"/>
          </a:xfrm>
          <a:prstGeom prst="rect">
            <a:avLst/>
          </a:prstGeom>
        </p:spPr>
      </p:pic>
      <p:sp>
        <p:nvSpPr>
          <p:cNvPr id="7" name="Téglalap: lekerekített 6">
            <a:extLst>
              <a:ext uri="{FF2B5EF4-FFF2-40B4-BE49-F238E27FC236}">
                <a16:creationId xmlns:a16="http://schemas.microsoft.com/office/drawing/2014/main" id="{403BC35E-7D77-C888-68A5-5541F442B5CE}"/>
              </a:ext>
            </a:extLst>
          </p:cNvPr>
          <p:cNvSpPr/>
          <p:nvPr/>
        </p:nvSpPr>
        <p:spPr>
          <a:xfrm>
            <a:off x="4637269" y="4183262"/>
            <a:ext cx="2924738" cy="138260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4" name="Ábra 3" descr="Mappa egyszínű kitöltéssel">
            <a:extLst>
              <a:ext uri="{FF2B5EF4-FFF2-40B4-BE49-F238E27FC236}">
                <a16:creationId xmlns:a16="http://schemas.microsoft.com/office/drawing/2014/main" id="{97067BF4-6C2F-2C0B-E6B0-EEA80F22D3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06514" y="2221928"/>
            <a:ext cx="4783419" cy="4783419"/>
          </a:xfrm>
          <a:prstGeom prst="rect">
            <a:avLst/>
          </a:prstGeom>
        </p:spPr>
      </p:pic>
      <p:sp>
        <p:nvSpPr>
          <p:cNvPr id="8" name="Téglalap: lekerekített 7">
            <a:extLst>
              <a:ext uri="{FF2B5EF4-FFF2-40B4-BE49-F238E27FC236}">
                <a16:creationId xmlns:a16="http://schemas.microsoft.com/office/drawing/2014/main" id="{F437AEB2-63BF-3A37-89F9-2F7C0C0FAFE9}"/>
              </a:ext>
            </a:extLst>
          </p:cNvPr>
          <p:cNvSpPr/>
          <p:nvPr/>
        </p:nvSpPr>
        <p:spPr>
          <a:xfrm>
            <a:off x="8565510" y="4183261"/>
            <a:ext cx="2924738" cy="138260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5" name="Ábra 4" descr="Mappa egyszínű kitöltéssel">
            <a:extLst>
              <a:ext uri="{FF2B5EF4-FFF2-40B4-BE49-F238E27FC236}">
                <a16:creationId xmlns:a16="http://schemas.microsoft.com/office/drawing/2014/main" id="{F70836AB-7884-81C6-AD58-B079FA6537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34755" y="2221928"/>
            <a:ext cx="4783419" cy="4783419"/>
          </a:xfrm>
          <a:prstGeom prst="rect">
            <a:avLst/>
          </a:prstGeom>
        </p:spPr>
      </p:pic>
      <p:sp>
        <p:nvSpPr>
          <p:cNvPr id="10" name="Szövegdoboz 9">
            <a:extLst>
              <a:ext uri="{FF2B5EF4-FFF2-40B4-BE49-F238E27FC236}">
                <a16:creationId xmlns:a16="http://schemas.microsoft.com/office/drawing/2014/main" id="{6BBE6D68-D57F-73E5-D986-1469DC20C79A}"/>
              </a:ext>
            </a:extLst>
          </p:cNvPr>
          <p:cNvSpPr txBox="1"/>
          <p:nvPr/>
        </p:nvSpPr>
        <p:spPr>
          <a:xfrm>
            <a:off x="2417152" y="285066"/>
            <a:ext cx="733720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4000" b="1">
                <a:solidFill>
                  <a:schemeClr val="bg1"/>
                </a:solidFill>
                <a:latin typeface="Aptos Display"/>
                <a:cs typeface="Poppins"/>
              </a:rPr>
              <a:t>Szöveg darabolása (</a:t>
            </a:r>
            <a:r>
              <a:rPr lang="hu-HU" sz="4000" b="1" err="1">
                <a:solidFill>
                  <a:schemeClr val="bg1"/>
                </a:solidFill>
                <a:latin typeface="Aptos Display"/>
                <a:cs typeface="Poppins"/>
              </a:rPr>
              <a:t>tokenizálás</a:t>
            </a:r>
            <a:r>
              <a:rPr lang="hu-HU" sz="4000" b="1">
                <a:solidFill>
                  <a:schemeClr val="bg1"/>
                </a:solidFill>
                <a:latin typeface="Aptos Display"/>
                <a:cs typeface="Poppins"/>
              </a:rPr>
              <a:t>)</a:t>
            </a:r>
            <a:endParaRPr lang="hu-HU" sz="4000" b="1">
              <a:solidFill>
                <a:schemeClr val="bg1"/>
              </a:solidFill>
              <a:latin typeface="Aptos Display"/>
            </a:endParaRPr>
          </a:p>
        </p:txBody>
      </p:sp>
      <p:sp>
        <p:nvSpPr>
          <p:cNvPr id="12" name="Rectangle 30">
            <a:extLst>
              <a:ext uri="{FF2B5EF4-FFF2-40B4-BE49-F238E27FC236}">
                <a16:creationId xmlns:a16="http://schemas.microsoft.com/office/drawing/2014/main" id="{65836039-EDC2-299F-170E-DD970781FBE0}"/>
              </a:ext>
            </a:extLst>
          </p:cNvPr>
          <p:cNvSpPr/>
          <p:nvPr/>
        </p:nvSpPr>
        <p:spPr>
          <a:xfrm>
            <a:off x="2427720" y="999165"/>
            <a:ext cx="7135812" cy="12750"/>
          </a:xfrm>
          <a:prstGeom prst="rect">
            <a:avLst/>
          </a:prstGeom>
          <a:solidFill>
            <a:srgbClr val="A50050"/>
          </a:solidFill>
          <a:ln>
            <a:solidFill>
              <a:srgbClr val="A50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237BFC01-70DA-C5B4-1DA7-AE5A8D0CF83E}"/>
              </a:ext>
            </a:extLst>
          </p:cNvPr>
          <p:cNvSpPr txBox="1"/>
          <p:nvPr/>
        </p:nvSpPr>
        <p:spPr>
          <a:xfrm>
            <a:off x="910473" y="2085582"/>
            <a:ext cx="2628825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>
                <a:solidFill>
                  <a:srgbClr val="00426A"/>
                </a:solidFill>
                <a:ea typeface="+mn-lt"/>
                <a:cs typeface="+mn-lt"/>
              </a:rPr>
              <a:t>Az MI a mondatokat apró darabokra bontja → ezek a </a:t>
            </a:r>
            <a:r>
              <a:rPr lang="hu-HU" sz="2000" b="1" err="1">
                <a:solidFill>
                  <a:srgbClr val="00426A"/>
                </a:solidFill>
                <a:ea typeface="+mn-lt"/>
                <a:cs typeface="+mn-lt"/>
              </a:rPr>
              <a:t>tokenek</a:t>
            </a:r>
            <a:r>
              <a:rPr lang="hu-HU" sz="2000">
                <a:solidFill>
                  <a:srgbClr val="00426A"/>
                </a:solidFill>
                <a:ea typeface="+mn-lt"/>
                <a:cs typeface="+mn-lt"/>
              </a:rPr>
              <a:t>. Addig darabol, amíg eljut egy olyan részhez, amit már „fel tud dolgozni”.</a:t>
            </a:r>
            <a:endParaRPr lang="hu-HU" sz="2000">
              <a:solidFill>
                <a:srgbClr val="00426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71110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5A8D4-7905-9CB7-9F8F-5770C71CA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1" descr="A képen képernyőkép, áramkör látható&#10;&#10;Lehet, hogy az AI által létrehozott tartalom helytelen.">
            <a:extLst>
              <a:ext uri="{FF2B5EF4-FFF2-40B4-BE49-F238E27FC236}">
                <a16:creationId xmlns:a16="http://schemas.microsoft.com/office/drawing/2014/main" id="{ABAD09E4-E478-B635-F202-5765B67677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9307" y="0"/>
            <a:ext cx="12215446" cy="12215446"/>
          </a:xfrm>
          <a:prstGeom prst="rect">
            <a:avLst/>
          </a:prstGeom>
        </p:spPr>
      </p:pic>
      <p:sp>
        <p:nvSpPr>
          <p:cNvPr id="6" name="Téglalap: lekerekített 5">
            <a:extLst>
              <a:ext uri="{FF2B5EF4-FFF2-40B4-BE49-F238E27FC236}">
                <a16:creationId xmlns:a16="http://schemas.microsoft.com/office/drawing/2014/main" id="{5916F0C5-DB9E-3366-73A8-AA372369AF8D}"/>
              </a:ext>
            </a:extLst>
          </p:cNvPr>
          <p:cNvSpPr/>
          <p:nvPr/>
        </p:nvSpPr>
        <p:spPr>
          <a:xfrm>
            <a:off x="709028" y="1739607"/>
            <a:ext cx="2977289" cy="382625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3" name="Ábra 2" descr="Mappa egyszínű kitöltéssel">
            <a:extLst>
              <a:ext uri="{FF2B5EF4-FFF2-40B4-BE49-F238E27FC236}">
                <a16:creationId xmlns:a16="http://schemas.microsoft.com/office/drawing/2014/main" id="{21D31754-4881-870E-F0F0-04852E7278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95452" y="3430617"/>
            <a:ext cx="4783419" cy="4783419"/>
          </a:xfrm>
          <a:prstGeom prst="rect">
            <a:avLst/>
          </a:prstGeom>
        </p:spPr>
      </p:pic>
      <p:sp>
        <p:nvSpPr>
          <p:cNvPr id="7" name="Téglalap: lekerekített 6">
            <a:extLst>
              <a:ext uri="{FF2B5EF4-FFF2-40B4-BE49-F238E27FC236}">
                <a16:creationId xmlns:a16="http://schemas.microsoft.com/office/drawing/2014/main" id="{D822C734-65A8-E1C2-727C-49322DC53C58}"/>
              </a:ext>
            </a:extLst>
          </p:cNvPr>
          <p:cNvSpPr/>
          <p:nvPr/>
        </p:nvSpPr>
        <p:spPr>
          <a:xfrm>
            <a:off x="4597856" y="1726469"/>
            <a:ext cx="3016702" cy="383939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hu-HU" sz="2000">
              <a:solidFill>
                <a:srgbClr val="000000"/>
              </a:solidFill>
            </a:endParaRPr>
          </a:p>
        </p:txBody>
      </p:sp>
      <p:pic>
        <p:nvPicPr>
          <p:cNvPr id="4" name="Ábra 3" descr="Mappa egyszínű kitöltéssel">
            <a:extLst>
              <a:ext uri="{FF2B5EF4-FFF2-40B4-BE49-F238E27FC236}">
                <a16:creationId xmlns:a16="http://schemas.microsoft.com/office/drawing/2014/main" id="{28378A60-7D02-0EEF-188B-05698AD3DF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93376" y="3434201"/>
            <a:ext cx="4783419" cy="4783419"/>
          </a:xfrm>
          <a:prstGeom prst="rect">
            <a:avLst/>
          </a:prstGeom>
        </p:spPr>
      </p:pic>
      <p:sp>
        <p:nvSpPr>
          <p:cNvPr id="8" name="Téglalap: lekerekített 7">
            <a:extLst>
              <a:ext uri="{FF2B5EF4-FFF2-40B4-BE49-F238E27FC236}">
                <a16:creationId xmlns:a16="http://schemas.microsoft.com/office/drawing/2014/main" id="{D70218DA-F772-B5F5-E08E-EFEB30CB633C}"/>
              </a:ext>
            </a:extLst>
          </p:cNvPr>
          <p:cNvSpPr/>
          <p:nvPr/>
        </p:nvSpPr>
        <p:spPr>
          <a:xfrm>
            <a:off x="8565510" y="4183261"/>
            <a:ext cx="2924738" cy="138260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5" name="Ábra 4" descr="Mappa egyszínű kitöltéssel">
            <a:extLst>
              <a:ext uri="{FF2B5EF4-FFF2-40B4-BE49-F238E27FC236}">
                <a16:creationId xmlns:a16="http://schemas.microsoft.com/office/drawing/2014/main" id="{CA2E1138-BA03-50D5-3201-D382415005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34755" y="2221928"/>
            <a:ext cx="4783419" cy="4783419"/>
          </a:xfrm>
          <a:prstGeom prst="rect">
            <a:avLst/>
          </a:prstGeom>
        </p:spPr>
      </p:pic>
      <p:sp>
        <p:nvSpPr>
          <p:cNvPr id="10" name="Szövegdoboz 9">
            <a:extLst>
              <a:ext uri="{FF2B5EF4-FFF2-40B4-BE49-F238E27FC236}">
                <a16:creationId xmlns:a16="http://schemas.microsoft.com/office/drawing/2014/main" id="{80C2ABF6-A22A-1175-4738-B4C35F7966EB}"/>
              </a:ext>
            </a:extLst>
          </p:cNvPr>
          <p:cNvSpPr txBox="1"/>
          <p:nvPr/>
        </p:nvSpPr>
        <p:spPr>
          <a:xfrm>
            <a:off x="2417152" y="285066"/>
            <a:ext cx="733720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4000" b="1">
                <a:solidFill>
                  <a:schemeClr val="bg1"/>
                </a:solidFill>
                <a:latin typeface="Aptos Display"/>
                <a:cs typeface="Poppins"/>
              </a:rPr>
              <a:t>Szöveg darabolása (</a:t>
            </a:r>
            <a:r>
              <a:rPr lang="hu-HU" sz="4000" b="1" err="1">
                <a:solidFill>
                  <a:schemeClr val="bg1"/>
                </a:solidFill>
                <a:latin typeface="Aptos Display"/>
                <a:cs typeface="Poppins"/>
              </a:rPr>
              <a:t>tokenizálás</a:t>
            </a:r>
            <a:r>
              <a:rPr lang="hu-HU" sz="4000" b="1">
                <a:solidFill>
                  <a:schemeClr val="bg1"/>
                </a:solidFill>
                <a:latin typeface="Aptos Display"/>
                <a:cs typeface="Poppins"/>
              </a:rPr>
              <a:t>)</a:t>
            </a:r>
            <a:endParaRPr lang="hu-HU" sz="4000" b="1">
              <a:solidFill>
                <a:schemeClr val="bg1"/>
              </a:solidFill>
              <a:latin typeface="Aptos Display"/>
            </a:endParaRPr>
          </a:p>
        </p:txBody>
      </p:sp>
      <p:sp>
        <p:nvSpPr>
          <p:cNvPr id="12" name="Rectangle 30">
            <a:extLst>
              <a:ext uri="{FF2B5EF4-FFF2-40B4-BE49-F238E27FC236}">
                <a16:creationId xmlns:a16="http://schemas.microsoft.com/office/drawing/2014/main" id="{A0197268-5576-9924-AD08-D5588909B3E6}"/>
              </a:ext>
            </a:extLst>
          </p:cNvPr>
          <p:cNvSpPr/>
          <p:nvPr/>
        </p:nvSpPr>
        <p:spPr>
          <a:xfrm>
            <a:off x="2427720" y="999165"/>
            <a:ext cx="7135812" cy="12750"/>
          </a:xfrm>
          <a:prstGeom prst="rect">
            <a:avLst/>
          </a:prstGeom>
          <a:solidFill>
            <a:srgbClr val="A50050"/>
          </a:solidFill>
          <a:ln>
            <a:solidFill>
              <a:srgbClr val="A50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270440C2-45DD-71A1-3FDE-49677EDD15F6}"/>
              </a:ext>
            </a:extLst>
          </p:cNvPr>
          <p:cNvSpPr txBox="1"/>
          <p:nvPr/>
        </p:nvSpPr>
        <p:spPr>
          <a:xfrm>
            <a:off x="910473" y="2085582"/>
            <a:ext cx="2628825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>
                <a:solidFill>
                  <a:srgbClr val="00426A"/>
                </a:solidFill>
                <a:ea typeface="+mn-lt"/>
                <a:cs typeface="+mn-lt"/>
              </a:rPr>
              <a:t>Az MI a mondatokat apró darabokra bontja → ezek a </a:t>
            </a:r>
            <a:r>
              <a:rPr lang="hu-HU" sz="2000" b="1" err="1">
                <a:solidFill>
                  <a:srgbClr val="00426A"/>
                </a:solidFill>
                <a:ea typeface="+mn-lt"/>
                <a:cs typeface="+mn-lt"/>
              </a:rPr>
              <a:t>tokenek</a:t>
            </a:r>
            <a:r>
              <a:rPr lang="hu-HU" sz="2000">
                <a:solidFill>
                  <a:srgbClr val="00426A"/>
                </a:solidFill>
                <a:ea typeface="+mn-lt"/>
                <a:cs typeface="+mn-lt"/>
              </a:rPr>
              <a:t>. Addig darabol, amíg eljut egy olyan részhez, amit már „fel tud dolgozni”.</a:t>
            </a:r>
            <a:endParaRPr lang="hu-HU" sz="2000">
              <a:solidFill>
                <a:srgbClr val="00426A"/>
              </a:solidFill>
            </a:endParaRP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FA55942A-022E-8AD0-E7A9-8DE28428D831}"/>
              </a:ext>
            </a:extLst>
          </p:cNvPr>
          <p:cNvSpPr txBox="1"/>
          <p:nvPr/>
        </p:nvSpPr>
        <p:spPr>
          <a:xfrm>
            <a:off x="4737538" y="2201917"/>
            <a:ext cx="2743200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400" b="1">
                <a:solidFill>
                  <a:srgbClr val="00426A"/>
                </a:solidFill>
                <a:latin typeface="Aptos Display"/>
              </a:rPr>
              <a:t>Mondat:</a:t>
            </a:r>
            <a:r>
              <a:rPr lang="hu-HU" sz="2400">
                <a:solidFill>
                  <a:srgbClr val="00426A"/>
                </a:solidFill>
                <a:latin typeface="Aptos Display"/>
              </a:rPr>
              <a:t> </a:t>
            </a:r>
            <a:r>
              <a:rPr lang="hu-HU" sz="2400">
                <a:solidFill>
                  <a:srgbClr val="00426A"/>
                </a:solidFill>
                <a:latin typeface="Aptos Display"/>
                <a:ea typeface="+mn-lt"/>
                <a:cs typeface="+mn-lt"/>
              </a:rPr>
              <a:t>„A kutya ugat.”</a:t>
            </a:r>
          </a:p>
          <a:p>
            <a:endParaRPr lang="hu-HU" sz="2000">
              <a:solidFill>
                <a:srgbClr val="00426A"/>
              </a:solidFill>
              <a:latin typeface="Aptos Display"/>
              <a:cs typeface="Poppins"/>
            </a:endParaRPr>
          </a:p>
          <a:p>
            <a:endParaRPr lang="hu-HU" sz="2000">
              <a:solidFill>
                <a:srgbClr val="00426A"/>
              </a:solidFill>
            </a:endParaRP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47E3EE44-7757-AC31-12B1-AAE705A85C84}"/>
              </a:ext>
            </a:extLst>
          </p:cNvPr>
          <p:cNvSpPr txBox="1"/>
          <p:nvPr/>
        </p:nvSpPr>
        <p:spPr>
          <a:xfrm>
            <a:off x="4738580" y="3213152"/>
            <a:ext cx="280065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400" b="1" err="1">
                <a:solidFill>
                  <a:srgbClr val="00426A"/>
                </a:solidFill>
                <a:latin typeface="Aptos Display"/>
              </a:rPr>
              <a:t>Tokenek</a:t>
            </a:r>
            <a:r>
              <a:rPr lang="hu-HU" sz="2400" b="1">
                <a:solidFill>
                  <a:srgbClr val="00426A"/>
                </a:solidFill>
                <a:latin typeface="Aptos Display"/>
              </a:rPr>
              <a:t>:</a:t>
            </a:r>
            <a:r>
              <a:rPr lang="hu-HU" sz="2400">
                <a:solidFill>
                  <a:srgbClr val="00426A"/>
                </a:solidFill>
                <a:latin typeface="Aptos Display"/>
              </a:rPr>
              <a:t> „A” | „kutya” | „ugat” | „.”</a:t>
            </a:r>
            <a:endParaRPr lang="hu-HU" sz="2400"/>
          </a:p>
        </p:txBody>
      </p:sp>
    </p:spTree>
    <p:extLst>
      <p:ext uri="{BB962C8B-B14F-4D97-AF65-F5344CB8AC3E}">
        <p14:creationId xmlns:p14="http://schemas.microsoft.com/office/powerpoint/2010/main" val="1663483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432EC-5B87-BD7F-274F-F7975D1FD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1" descr="A képen képernyőkép, áramkör látható&#10;&#10;Lehet, hogy az AI által létrehozott tartalom helytelen.">
            <a:extLst>
              <a:ext uri="{FF2B5EF4-FFF2-40B4-BE49-F238E27FC236}">
                <a16:creationId xmlns:a16="http://schemas.microsoft.com/office/drawing/2014/main" id="{A5B028E8-B329-BFB1-1082-89A36131E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9307" y="0"/>
            <a:ext cx="12215446" cy="12215446"/>
          </a:xfrm>
          <a:prstGeom prst="rect">
            <a:avLst/>
          </a:prstGeom>
        </p:spPr>
      </p:pic>
      <p:sp>
        <p:nvSpPr>
          <p:cNvPr id="6" name="Téglalap: lekerekített 5">
            <a:extLst>
              <a:ext uri="{FF2B5EF4-FFF2-40B4-BE49-F238E27FC236}">
                <a16:creationId xmlns:a16="http://schemas.microsoft.com/office/drawing/2014/main" id="{93A301B6-04E6-44D0-3E88-F83AD4638DD0}"/>
              </a:ext>
            </a:extLst>
          </p:cNvPr>
          <p:cNvSpPr/>
          <p:nvPr/>
        </p:nvSpPr>
        <p:spPr>
          <a:xfrm>
            <a:off x="709028" y="1739607"/>
            <a:ext cx="2977289" cy="382625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3" name="Ábra 2" descr="Mappa egyszínű kitöltéssel">
            <a:extLst>
              <a:ext uri="{FF2B5EF4-FFF2-40B4-BE49-F238E27FC236}">
                <a16:creationId xmlns:a16="http://schemas.microsoft.com/office/drawing/2014/main" id="{0CEB91F9-9C12-5F13-BD42-E72D72893D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95452" y="3430617"/>
            <a:ext cx="4783419" cy="4783419"/>
          </a:xfrm>
          <a:prstGeom prst="rect">
            <a:avLst/>
          </a:prstGeom>
        </p:spPr>
      </p:pic>
      <p:sp>
        <p:nvSpPr>
          <p:cNvPr id="7" name="Téglalap: lekerekített 6">
            <a:extLst>
              <a:ext uri="{FF2B5EF4-FFF2-40B4-BE49-F238E27FC236}">
                <a16:creationId xmlns:a16="http://schemas.microsoft.com/office/drawing/2014/main" id="{04FFE77B-0076-E3F0-19E9-EE665D2C28BB}"/>
              </a:ext>
            </a:extLst>
          </p:cNvPr>
          <p:cNvSpPr/>
          <p:nvPr/>
        </p:nvSpPr>
        <p:spPr>
          <a:xfrm>
            <a:off x="4597856" y="1726469"/>
            <a:ext cx="3016702" cy="383939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hu-HU" sz="2000">
              <a:solidFill>
                <a:srgbClr val="000000"/>
              </a:solidFill>
            </a:endParaRPr>
          </a:p>
        </p:txBody>
      </p:sp>
      <p:pic>
        <p:nvPicPr>
          <p:cNvPr id="4" name="Ábra 3" descr="Mappa egyszínű kitöltéssel">
            <a:extLst>
              <a:ext uri="{FF2B5EF4-FFF2-40B4-BE49-F238E27FC236}">
                <a16:creationId xmlns:a16="http://schemas.microsoft.com/office/drawing/2014/main" id="{94460D1B-9233-EEB8-DABF-24C453912E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93376" y="3434201"/>
            <a:ext cx="4783419" cy="4783419"/>
          </a:xfrm>
          <a:prstGeom prst="rect">
            <a:avLst/>
          </a:prstGeom>
        </p:spPr>
      </p:pic>
      <p:sp>
        <p:nvSpPr>
          <p:cNvPr id="8" name="Téglalap: lekerekített 7">
            <a:extLst>
              <a:ext uri="{FF2B5EF4-FFF2-40B4-BE49-F238E27FC236}">
                <a16:creationId xmlns:a16="http://schemas.microsoft.com/office/drawing/2014/main" id="{44822CD3-05AA-4B79-9313-4586E4BCA50D}"/>
              </a:ext>
            </a:extLst>
          </p:cNvPr>
          <p:cNvSpPr/>
          <p:nvPr/>
        </p:nvSpPr>
        <p:spPr>
          <a:xfrm>
            <a:off x="8499821" y="1726468"/>
            <a:ext cx="2990427" cy="383939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5" name="Ábra 4" descr="Mappa egyszínű kitöltéssel">
            <a:extLst>
              <a:ext uri="{FF2B5EF4-FFF2-40B4-BE49-F238E27FC236}">
                <a16:creationId xmlns:a16="http://schemas.microsoft.com/office/drawing/2014/main" id="{3911631F-E894-2201-72D8-7695DBAF7B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1617" y="3430617"/>
            <a:ext cx="4783419" cy="4783419"/>
          </a:xfrm>
          <a:prstGeom prst="rect">
            <a:avLst/>
          </a:prstGeom>
        </p:spPr>
      </p:pic>
      <p:sp>
        <p:nvSpPr>
          <p:cNvPr id="10" name="Szövegdoboz 9">
            <a:extLst>
              <a:ext uri="{FF2B5EF4-FFF2-40B4-BE49-F238E27FC236}">
                <a16:creationId xmlns:a16="http://schemas.microsoft.com/office/drawing/2014/main" id="{029B0246-DDCF-71F9-3D41-728F1A1F9078}"/>
              </a:ext>
            </a:extLst>
          </p:cNvPr>
          <p:cNvSpPr txBox="1"/>
          <p:nvPr/>
        </p:nvSpPr>
        <p:spPr>
          <a:xfrm>
            <a:off x="2417152" y="285066"/>
            <a:ext cx="733720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4000" b="1">
                <a:solidFill>
                  <a:schemeClr val="bg1"/>
                </a:solidFill>
                <a:latin typeface="Aptos Display"/>
                <a:cs typeface="Poppins"/>
              </a:rPr>
              <a:t>Szöveg darabolása (</a:t>
            </a:r>
            <a:r>
              <a:rPr lang="hu-HU" sz="4000" b="1" err="1">
                <a:solidFill>
                  <a:schemeClr val="bg1"/>
                </a:solidFill>
                <a:latin typeface="Aptos Display"/>
                <a:cs typeface="Poppins"/>
              </a:rPr>
              <a:t>tokenizálás</a:t>
            </a:r>
            <a:r>
              <a:rPr lang="hu-HU" sz="4000" b="1">
                <a:solidFill>
                  <a:schemeClr val="bg1"/>
                </a:solidFill>
                <a:latin typeface="Aptos Display"/>
                <a:cs typeface="Poppins"/>
              </a:rPr>
              <a:t>)</a:t>
            </a:r>
            <a:endParaRPr lang="hu-HU" sz="4000" b="1">
              <a:solidFill>
                <a:schemeClr val="bg1"/>
              </a:solidFill>
              <a:latin typeface="Aptos Display"/>
            </a:endParaRPr>
          </a:p>
        </p:txBody>
      </p:sp>
      <p:sp>
        <p:nvSpPr>
          <p:cNvPr id="12" name="Rectangle 30">
            <a:extLst>
              <a:ext uri="{FF2B5EF4-FFF2-40B4-BE49-F238E27FC236}">
                <a16:creationId xmlns:a16="http://schemas.microsoft.com/office/drawing/2014/main" id="{9E26E96B-B2F9-E63F-96D6-231912E69A76}"/>
              </a:ext>
            </a:extLst>
          </p:cNvPr>
          <p:cNvSpPr/>
          <p:nvPr/>
        </p:nvSpPr>
        <p:spPr>
          <a:xfrm>
            <a:off x="2427720" y="999165"/>
            <a:ext cx="7135812" cy="12750"/>
          </a:xfrm>
          <a:prstGeom prst="rect">
            <a:avLst/>
          </a:prstGeom>
          <a:solidFill>
            <a:srgbClr val="A50050"/>
          </a:solidFill>
          <a:ln>
            <a:solidFill>
              <a:srgbClr val="A50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2AC4B353-E675-DC63-4565-E6D8789BA223}"/>
              </a:ext>
            </a:extLst>
          </p:cNvPr>
          <p:cNvSpPr txBox="1"/>
          <p:nvPr/>
        </p:nvSpPr>
        <p:spPr>
          <a:xfrm>
            <a:off x="910473" y="2085582"/>
            <a:ext cx="2628825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>
                <a:solidFill>
                  <a:srgbClr val="00426A"/>
                </a:solidFill>
                <a:ea typeface="+mn-lt"/>
                <a:cs typeface="+mn-lt"/>
              </a:rPr>
              <a:t>Az MI a mondatokat apró darabokra bontja → ezek a </a:t>
            </a:r>
            <a:r>
              <a:rPr lang="hu-HU" sz="2000" b="1" err="1">
                <a:solidFill>
                  <a:srgbClr val="00426A"/>
                </a:solidFill>
                <a:ea typeface="+mn-lt"/>
                <a:cs typeface="+mn-lt"/>
              </a:rPr>
              <a:t>tokenek</a:t>
            </a:r>
            <a:r>
              <a:rPr lang="hu-HU" sz="2000">
                <a:solidFill>
                  <a:srgbClr val="00426A"/>
                </a:solidFill>
                <a:ea typeface="+mn-lt"/>
                <a:cs typeface="+mn-lt"/>
              </a:rPr>
              <a:t>. Addig darabol, amíg eljut egy olyan részhez, amit már „fel tud dolgozni”.</a:t>
            </a:r>
            <a:endParaRPr lang="hu-HU" sz="2000">
              <a:solidFill>
                <a:srgbClr val="00426A"/>
              </a:solidFill>
            </a:endParaRP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EB4B211D-0F53-012A-3AC7-7D800B78D0F2}"/>
              </a:ext>
            </a:extLst>
          </p:cNvPr>
          <p:cNvSpPr txBox="1"/>
          <p:nvPr/>
        </p:nvSpPr>
        <p:spPr>
          <a:xfrm>
            <a:off x="4737538" y="2201917"/>
            <a:ext cx="2743200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400" b="1">
                <a:solidFill>
                  <a:srgbClr val="00426A"/>
                </a:solidFill>
                <a:latin typeface="Aptos Display"/>
              </a:rPr>
              <a:t>Mondat:</a:t>
            </a:r>
            <a:r>
              <a:rPr lang="hu-HU" sz="2400">
                <a:solidFill>
                  <a:srgbClr val="00426A"/>
                </a:solidFill>
                <a:latin typeface="Aptos Display"/>
              </a:rPr>
              <a:t> </a:t>
            </a:r>
            <a:r>
              <a:rPr lang="hu-HU" sz="2400">
                <a:solidFill>
                  <a:srgbClr val="00426A"/>
                </a:solidFill>
                <a:latin typeface="Aptos Display"/>
                <a:ea typeface="+mn-lt"/>
                <a:cs typeface="+mn-lt"/>
              </a:rPr>
              <a:t>„A kutya ugat.”</a:t>
            </a:r>
          </a:p>
          <a:p>
            <a:endParaRPr lang="hu-HU" sz="2000">
              <a:solidFill>
                <a:srgbClr val="00426A"/>
              </a:solidFill>
              <a:latin typeface="Aptos Display"/>
              <a:cs typeface="Poppins"/>
            </a:endParaRPr>
          </a:p>
          <a:p>
            <a:endParaRPr lang="hu-HU" sz="2000">
              <a:solidFill>
                <a:srgbClr val="00426A"/>
              </a:solidFill>
            </a:endParaRP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8EB0D6F5-C299-8532-9E0D-F2D335D4E845}"/>
              </a:ext>
            </a:extLst>
          </p:cNvPr>
          <p:cNvSpPr txBox="1"/>
          <p:nvPr/>
        </p:nvSpPr>
        <p:spPr>
          <a:xfrm>
            <a:off x="4738580" y="3213152"/>
            <a:ext cx="280065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400" b="1" err="1">
                <a:solidFill>
                  <a:srgbClr val="00426A"/>
                </a:solidFill>
                <a:latin typeface="Aptos Display"/>
              </a:rPr>
              <a:t>Tokenek</a:t>
            </a:r>
            <a:r>
              <a:rPr lang="hu-HU" sz="2400" b="1">
                <a:solidFill>
                  <a:srgbClr val="00426A"/>
                </a:solidFill>
                <a:latin typeface="Aptos Display"/>
              </a:rPr>
              <a:t>:</a:t>
            </a:r>
            <a:r>
              <a:rPr lang="hu-HU" sz="2400">
                <a:solidFill>
                  <a:srgbClr val="00426A"/>
                </a:solidFill>
                <a:latin typeface="Aptos Display"/>
              </a:rPr>
              <a:t> „A” | „kutya” | „ugat” | „.”</a:t>
            </a:r>
            <a:endParaRPr lang="hu-HU" sz="2400"/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2D4E6C00-FFF6-9796-E80F-756472038910}"/>
              </a:ext>
            </a:extLst>
          </p:cNvPr>
          <p:cNvSpPr txBox="1"/>
          <p:nvPr/>
        </p:nvSpPr>
        <p:spPr>
          <a:xfrm>
            <a:off x="8643673" y="2088715"/>
            <a:ext cx="2743308" cy="22422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>
                <a:solidFill>
                  <a:srgbClr val="00426A"/>
                </a:solidFill>
                <a:ea typeface="+mn-lt"/>
                <a:cs typeface="+mn-lt"/>
              </a:rPr>
              <a:t>Mi egyben látjuk a teljes képet. Az MI csak a kis puzzle-darabokat illeszti egymás mellé. Így próbálja kitalálni, mi következik.</a:t>
            </a:r>
            <a:endParaRPr lang="hu-HU" sz="2000">
              <a:solidFill>
                <a:srgbClr val="00426A"/>
              </a:solidFill>
            </a:endParaRPr>
          </a:p>
          <a:p>
            <a:pPr algn="l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109495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FAF95-FC7F-B72E-0FEE-857641AE7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BAE1961A-4F67-23D5-A12C-A3F0B7F50872}"/>
              </a:ext>
            </a:extLst>
          </p:cNvPr>
          <p:cNvGrpSpPr/>
          <p:nvPr/>
        </p:nvGrpSpPr>
        <p:grpSpPr>
          <a:xfrm>
            <a:off x="9733808" y="0"/>
            <a:ext cx="2471057" cy="2232931"/>
            <a:chOff x="9156192" y="0"/>
            <a:chExt cx="3035808" cy="3035808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CEA39C5-0EB2-43D7-DB23-079A2CC79BE0}"/>
                </a:ext>
              </a:extLst>
            </p:cNvPr>
            <p:cNvSpPr/>
            <p:nvPr/>
          </p:nvSpPr>
          <p:spPr>
            <a:xfrm rot="10800000">
              <a:off x="11430669" y="0"/>
              <a:ext cx="761331" cy="761331"/>
            </a:xfrm>
            <a:custGeom>
              <a:avLst/>
              <a:gdLst>
                <a:gd name="connsiteX0" fmla="*/ 1143000 w 1143000"/>
                <a:gd name="connsiteY0" fmla="*/ 1143000 h 1143000"/>
                <a:gd name="connsiteX1" fmla="*/ 0 w 1143000"/>
                <a:gd name="connsiteY1" fmla="*/ 1143000 h 1143000"/>
                <a:gd name="connsiteX2" fmla="*/ 0 w 1143000"/>
                <a:gd name="connsiteY2" fmla="*/ 0 h 1143000"/>
                <a:gd name="connsiteX3" fmla="*/ 1143000 w 1143000"/>
                <a:gd name="connsiteY3" fmla="*/ 114300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00" h="1143000">
                  <a:moveTo>
                    <a:pt x="1143000" y="1143000"/>
                  </a:moveTo>
                  <a:lnTo>
                    <a:pt x="0" y="1143000"/>
                  </a:lnTo>
                  <a:lnTo>
                    <a:pt x="0" y="0"/>
                  </a:lnTo>
                  <a:lnTo>
                    <a:pt x="1143000" y="1143000"/>
                  </a:lnTo>
                  <a:close/>
                </a:path>
              </a:pathLst>
            </a:custGeom>
            <a:solidFill>
              <a:srgbClr val="C4D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266C9A5-4F3B-1E59-EFCA-B7A19031837B}"/>
                </a:ext>
              </a:extLst>
            </p:cNvPr>
            <p:cNvSpPr/>
            <p:nvPr/>
          </p:nvSpPr>
          <p:spPr>
            <a:xfrm rot="10800000">
              <a:off x="9156192" y="0"/>
              <a:ext cx="2274477" cy="1137238"/>
            </a:xfrm>
            <a:custGeom>
              <a:avLst/>
              <a:gdLst>
                <a:gd name="connsiteX0" fmla="*/ 0 w 3414712"/>
                <a:gd name="connsiteY0" fmla="*/ 1707356 h 1707356"/>
                <a:gd name="connsiteX1" fmla="*/ 1707356 w 3414712"/>
                <a:gd name="connsiteY1" fmla="*/ 0 h 1707356"/>
                <a:gd name="connsiteX2" fmla="*/ 3414713 w 3414712"/>
                <a:gd name="connsiteY2" fmla="*/ 1707356 h 1707356"/>
                <a:gd name="connsiteX3" fmla="*/ 0 w 3414712"/>
                <a:gd name="connsiteY3" fmla="*/ 1707356 h 1707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14712" h="1707356">
                  <a:moveTo>
                    <a:pt x="0" y="1707356"/>
                  </a:moveTo>
                  <a:lnTo>
                    <a:pt x="1707356" y="0"/>
                  </a:lnTo>
                  <a:lnTo>
                    <a:pt x="3414713" y="1707356"/>
                  </a:lnTo>
                  <a:lnTo>
                    <a:pt x="0" y="1707356"/>
                  </a:lnTo>
                  <a:close/>
                </a:path>
              </a:pathLst>
            </a:custGeom>
            <a:solidFill>
              <a:srgbClr val="009CD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4094862-A66C-932D-A2F8-4E7B38138EFE}"/>
                </a:ext>
              </a:extLst>
            </p:cNvPr>
            <p:cNvSpPr/>
            <p:nvPr/>
          </p:nvSpPr>
          <p:spPr>
            <a:xfrm rot="10800000">
              <a:off x="10831756" y="1137238"/>
              <a:ext cx="1360244" cy="1898570"/>
            </a:xfrm>
            <a:custGeom>
              <a:avLst/>
              <a:gdLst>
                <a:gd name="connsiteX0" fmla="*/ 0 w 2042159"/>
                <a:gd name="connsiteY0" fmla="*/ 0 h 2850356"/>
                <a:gd name="connsiteX1" fmla="*/ 0 w 2042159"/>
                <a:gd name="connsiteY1" fmla="*/ 1616488 h 2850356"/>
                <a:gd name="connsiteX2" fmla="*/ 1233868 w 2042159"/>
                <a:gd name="connsiteY2" fmla="*/ 2850356 h 2850356"/>
                <a:gd name="connsiteX3" fmla="*/ 2042160 w 2042159"/>
                <a:gd name="connsiteY3" fmla="*/ 2042160 h 2850356"/>
                <a:gd name="connsiteX4" fmla="*/ 0 w 2042159"/>
                <a:gd name="connsiteY4" fmla="*/ 0 h 2850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2159" h="2850356">
                  <a:moveTo>
                    <a:pt x="0" y="0"/>
                  </a:moveTo>
                  <a:lnTo>
                    <a:pt x="0" y="1616488"/>
                  </a:lnTo>
                  <a:lnTo>
                    <a:pt x="1233868" y="2850356"/>
                  </a:lnTo>
                  <a:lnTo>
                    <a:pt x="2042160" y="2042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0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794E514-87DB-7E13-1C73-34E39082BE77}"/>
              </a:ext>
            </a:extLst>
          </p:cNvPr>
          <p:cNvSpPr txBox="1">
            <a:spLocks/>
          </p:cNvSpPr>
          <p:nvPr/>
        </p:nvSpPr>
        <p:spPr>
          <a:xfrm>
            <a:off x="6466113" y="443145"/>
            <a:ext cx="4501900" cy="1722403"/>
          </a:xfrm>
          <a:prstGeom prst="rect">
            <a:avLst/>
          </a:prstGeom>
        </p:spPr>
        <p:txBody>
          <a:bodyPr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GB" sz="5400" b="1" err="1">
                <a:solidFill>
                  <a:srgbClr val="00426A"/>
                </a:solidFill>
                <a:ea typeface="+mj-lt"/>
                <a:cs typeface="+mj-lt"/>
              </a:rPr>
              <a:t>Statisztikai</a:t>
            </a:r>
            <a:r>
              <a:rPr lang="en-GB" sz="5400" b="1">
                <a:solidFill>
                  <a:srgbClr val="00426A"/>
                </a:solidFill>
                <a:ea typeface="+mj-lt"/>
                <a:cs typeface="+mj-lt"/>
              </a:rPr>
              <a:t> </a:t>
            </a:r>
            <a:r>
              <a:rPr lang="en-GB" sz="5400" b="1" err="1">
                <a:solidFill>
                  <a:srgbClr val="00426A"/>
                </a:solidFill>
                <a:ea typeface="+mj-lt"/>
                <a:cs typeface="+mj-lt"/>
              </a:rPr>
              <a:t>előrejelzés</a:t>
            </a:r>
            <a:endParaRPr lang="hu-HU" sz="5400" b="1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774EFD5-5492-473F-8545-29B1EBB3AC56}"/>
              </a:ext>
            </a:extLst>
          </p:cNvPr>
          <p:cNvSpPr txBox="1">
            <a:spLocks/>
          </p:cNvSpPr>
          <p:nvPr/>
        </p:nvSpPr>
        <p:spPr>
          <a:xfrm>
            <a:off x="6470751" y="2491006"/>
            <a:ext cx="4498586" cy="1333812"/>
          </a:xfrm>
          <a:prstGeom prst="rect">
            <a:avLst/>
          </a:prstGeom>
        </p:spPr>
        <p:txBody>
          <a:bodyPr lIns="91440" tIns="45720" rIns="91440" bIns="45720" anchor="t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GB" sz="3000" b="1">
                <a:solidFill>
                  <a:srgbClr val="009CDE"/>
                </a:solidFill>
                <a:ea typeface="+mn-lt"/>
                <a:cs typeface="+mn-lt"/>
              </a:rPr>
              <a:t>Az MI </a:t>
            </a:r>
            <a:r>
              <a:rPr lang="en-GB" sz="3000" b="1" err="1">
                <a:solidFill>
                  <a:srgbClr val="009CDE"/>
                </a:solidFill>
                <a:ea typeface="+mn-lt"/>
                <a:cs typeface="+mn-lt"/>
              </a:rPr>
              <a:t>nem</a:t>
            </a:r>
            <a:r>
              <a:rPr lang="en-GB" sz="3000" b="1">
                <a:solidFill>
                  <a:srgbClr val="009CDE"/>
                </a:solidFill>
                <a:ea typeface="+mn-lt"/>
                <a:cs typeface="+mn-lt"/>
              </a:rPr>
              <a:t> </a:t>
            </a:r>
            <a:r>
              <a:rPr lang="en-GB" sz="3000" b="1" err="1">
                <a:solidFill>
                  <a:srgbClr val="009CDE"/>
                </a:solidFill>
                <a:ea typeface="+mn-lt"/>
                <a:cs typeface="+mn-lt"/>
              </a:rPr>
              <a:t>tudja</a:t>
            </a:r>
            <a:r>
              <a:rPr lang="en-GB" sz="3000" b="1">
                <a:solidFill>
                  <a:srgbClr val="009CDE"/>
                </a:solidFill>
                <a:ea typeface="+mn-lt"/>
                <a:cs typeface="+mn-lt"/>
              </a:rPr>
              <a:t>, „mi </a:t>
            </a:r>
            <a:r>
              <a:rPr lang="en-GB" sz="3000" b="1" err="1">
                <a:solidFill>
                  <a:srgbClr val="009CDE"/>
                </a:solidFill>
                <a:ea typeface="+mn-lt"/>
                <a:cs typeface="+mn-lt"/>
              </a:rPr>
              <a:t>az</a:t>
            </a:r>
            <a:r>
              <a:rPr lang="en-GB" sz="3000" b="1">
                <a:solidFill>
                  <a:srgbClr val="009CDE"/>
                </a:solidFill>
                <a:ea typeface="+mn-lt"/>
                <a:cs typeface="+mn-lt"/>
              </a:rPr>
              <a:t> </a:t>
            </a:r>
            <a:r>
              <a:rPr lang="en-GB" sz="3000" b="1" err="1">
                <a:solidFill>
                  <a:srgbClr val="009CDE"/>
                </a:solidFill>
                <a:ea typeface="+mn-lt"/>
                <a:cs typeface="+mn-lt"/>
              </a:rPr>
              <a:t>igazság</a:t>
            </a:r>
            <a:r>
              <a:rPr lang="en-GB" sz="3000" b="1">
                <a:solidFill>
                  <a:srgbClr val="009CDE"/>
                </a:solidFill>
                <a:ea typeface="+mn-lt"/>
                <a:cs typeface="+mn-lt"/>
              </a:rPr>
              <a:t>”. </a:t>
            </a:r>
            <a:r>
              <a:rPr lang="en-GB" sz="3000" b="1" err="1">
                <a:solidFill>
                  <a:srgbClr val="009CDE"/>
                </a:solidFill>
                <a:ea typeface="+mn-lt"/>
                <a:cs typeface="+mn-lt"/>
              </a:rPr>
              <a:t>Úgy</a:t>
            </a:r>
            <a:r>
              <a:rPr lang="en-GB" sz="3000" b="1">
                <a:solidFill>
                  <a:srgbClr val="009CDE"/>
                </a:solidFill>
                <a:ea typeface="+mn-lt"/>
                <a:cs typeface="+mn-lt"/>
              </a:rPr>
              <a:t> </a:t>
            </a:r>
            <a:r>
              <a:rPr lang="en-GB" sz="3000" b="1" err="1">
                <a:solidFill>
                  <a:srgbClr val="009CDE"/>
                </a:solidFill>
                <a:ea typeface="+mn-lt"/>
                <a:cs typeface="+mn-lt"/>
              </a:rPr>
              <a:t>működik</a:t>
            </a:r>
            <a:r>
              <a:rPr lang="en-GB" sz="3000" b="1">
                <a:solidFill>
                  <a:srgbClr val="009CDE"/>
                </a:solidFill>
                <a:ea typeface="+mn-lt"/>
                <a:cs typeface="+mn-lt"/>
              </a:rPr>
              <a:t>, </a:t>
            </a:r>
            <a:r>
              <a:rPr lang="en-GB" sz="3000" b="1" err="1">
                <a:solidFill>
                  <a:srgbClr val="009CDE"/>
                </a:solidFill>
                <a:ea typeface="+mn-lt"/>
                <a:cs typeface="+mn-lt"/>
              </a:rPr>
              <a:t>hogy</a:t>
            </a:r>
            <a:r>
              <a:rPr lang="en-GB" sz="3000" b="1">
                <a:solidFill>
                  <a:srgbClr val="009CDE"/>
                </a:solidFill>
                <a:ea typeface="+mn-lt"/>
                <a:cs typeface="+mn-lt"/>
              </a:rPr>
              <a:t> </a:t>
            </a:r>
            <a:r>
              <a:rPr lang="en-GB" sz="3000" b="1" err="1">
                <a:solidFill>
                  <a:srgbClr val="009CDE"/>
                </a:solidFill>
                <a:ea typeface="+mn-lt"/>
                <a:cs typeface="+mn-lt"/>
              </a:rPr>
              <a:t>kiszámolja</a:t>
            </a:r>
            <a:r>
              <a:rPr lang="en-GB" sz="3000" b="1">
                <a:solidFill>
                  <a:srgbClr val="009CDE"/>
                </a:solidFill>
                <a:ea typeface="+mn-lt"/>
                <a:cs typeface="+mn-lt"/>
              </a:rPr>
              <a:t>: </a:t>
            </a:r>
            <a:r>
              <a:rPr lang="en-GB" sz="3000" b="1" err="1">
                <a:solidFill>
                  <a:srgbClr val="009CDE"/>
                </a:solidFill>
                <a:ea typeface="+mn-lt"/>
                <a:cs typeface="+mn-lt"/>
              </a:rPr>
              <a:t>egy</a:t>
            </a:r>
            <a:r>
              <a:rPr lang="en-GB" sz="3000" b="1">
                <a:solidFill>
                  <a:srgbClr val="009CDE"/>
                </a:solidFill>
                <a:ea typeface="+mn-lt"/>
                <a:cs typeface="+mn-lt"/>
              </a:rPr>
              <a:t> </a:t>
            </a:r>
            <a:r>
              <a:rPr lang="en-GB" sz="3000" b="1" err="1">
                <a:solidFill>
                  <a:srgbClr val="009CDE"/>
                </a:solidFill>
                <a:ea typeface="+mn-lt"/>
                <a:cs typeface="+mn-lt"/>
              </a:rPr>
              <a:t>adott</a:t>
            </a:r>
            <a:r>
              <a:rPr lang="en-GB" sz="3000" b="1">
                <a:solidFill>
                  <a:srgbClr val="009CDE"/>
                </a:solidFill>
                <a:ea typeface="+mn-lt"/>
                <a:cs typeface="+mn-lt"/>
              </a:rPr>
              <a:t> </a:t>
            </a:r>
            <a:r>
              <a:rPr lang="en-GB" sz="3000" b="1" err="1">
                <a:solidFill>
                  <a:srgbClr val="009CDE"/>
                </a:solidFill>
                <a:ea typeface="+mn-lt"/>
                <a:cs typeface="+mn-lt"/>
              </a:rPr>
              <a:t>szó</a:t>
            </a:r>
            <a:r>
              <a:rPr lang="en-GB" sz="3000" b="1">
                <a:solidFill>
                  <a:srgbClr val="009CDE"/>
                </a:solidFill>
                <a:ea typeface="+mn-lt"/>
                <a:cs typeface="+mn-lt"/>
              </a:rPr>
              <a:t> </a:t>
            </a:r>
            <a:r>
              <a:rPr lang="en-GB" sz="3000" b="1" err="1">
                <a:solidFill>
                  <a:srgbClr val="009CDE"/>
                </a:solidFill>
                <a:ea typeface="+mn-lt"/>
                <a:cs typeface="+mn-lt"/>
              </a:rPr>
              <a:t>után</a:t>
            </a:r>
            <a:r>
              <a:rPr lang="en-GB" sz="3000" b="1">
                <a:solidFill>
                  <a:srgbClr val="009CDE"/>
                </a:solidFill>
                <a:ea typeface="+mn-lt"/>
                <a:cs typeface="+mn-lt"/>
              </a:rPr>
              <a:t> </a:t>
            </a:r>
            <a:r>
              <a:rPr lang="en-GB" sz="3000" b="1" err="1">
                <a:solidFill>
                  <a:srgbClr val="009CDE"/>
                </a:solidFill>
                <a:ea typeface="+mn-lt"/>
                <a:cs typeface="+mn-lt"/>
              </a:rPr>
              <a:t>melyik</a:t>
            </a:r>
            <a:r>
              <a:rPr lang="en-GB" sz="3000" b="1">
                <a:solidFill>
                  <a:srgbClr val="009CDE"/>
                </a:solidFill>
                <a:ea typeface="+mn-lt"/>
                <a:cs typeface="+mn-lt"/>
              </a:rPr>
              <a:t> </a:t>
            </a:r>
            <a:r>
              <a:rPr lang="en-GB" sz="3000" b="1" err="1">
                <a:solidFill>
                  <a:srgbClr val="009CDE"/>
                </a:solidFill>
                <a:ea typeface="+mn-lt"/>
                <a:cs typeface="+mn-lt"/>
              </a:rPr>
              <a:t>szó</a:t>
            </a:r>
            <a:r>
              <a:rPr lang="en-GB" sz="3000" b="1">
                <a:solidFill>
                  <a:srgbClr val="009CDE"/>
                </a:solidFill>
                <a:ea typeface="+mn-lt"/>
                <a:cs typeface="+mn-lt"/>
              </a:rPr>
              <a:t> a </a:t>
            </a:r>
            <a:r>
              <a:rPr lang="en-GB" sz="3000" b="1" err="1">
                <a:solidFill>
                  <a:srgbClr val="009CDE"/>
                </a:solidFill>
                <a:ea typeface="+mn-lt"/>
                <a:cs typeface="+mn-lt"/>
              </a:rPr>
              <a:t>legvalószínűbb</a:t>
            </a:r>
            <a:r>
              <a:rPr lang="en-GB" sz="3000" b="1">
                <a:solidFill>
                  <a:srgbClr val="009CDE"/>
                </a:solidFill>
                <a:ea typeface="+mn-lt"/>
                <a:cs typeface="+mn-lt"/>
              </a:rPr>
              <a:t>.</a:t>
            </a:r>
            <a:endParaRPr lang="hu-HU" b="1">
              <a:ea typeface="+mn-ea"/>
            </a:endParaRPr>
          </a:p>
          <a:p>
            <a:pPr marL="0" indent="0">
              <a:buNone/>
              <a:defRPr/>
            </a:pPr>
            <a:endParaRPr lang="en-GB" sz="1600">
              <a:solidFill>
                <a:prstClr val="black"/>
              </a:solidFill>
              <a:latin typeface="Poppins"/>
              <a:cs typeface="Poppins"/>
            </a:endParaRPr>
          </a:p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cs typeface="Arial" panose="020B0604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1F71323-2AD4-2ECB-C7E4-864B5AB34D88}"/>
              </a:ext>
            </a:extLst>
          </p:cNvPr>
          <p:cNvSpPr/>
          <p:nvPr/>
        </p:nvSpPr>
        <p:spPr>
          <a:xfrm>
            <a:off x="6518186" y="2059529"/>
            <a:ext cx="4111232" cy="102620"/>
          </a:xfrm>
          <a:prstGeom prst="rect">
            <a:avLst/>
          </a:prstGeom>
          <a:solidFill>
            <a:srgbClr val="A50050"/>
          </a:solidFill>
          <a:ln>
            <a:solidFill>
              <a:srgbClr val="A50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BED55AEB-E919-5360-1135-0BA535E079C9}"/>
              </a:ext>
            </a:extLst>
          </p:cNvPr>
          <p:cNvSpPr txBox="1"/>
          <p:nvPr/>
        </p:nvSpPr>
        <p:spPr>
          <a:xfrm>
            <a:off x="6540308" y="3871176"/>
            <a:ext cx="411259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>
                <a:solidFill>
                  <a:srgbClr val="00426A"/>
                </a:solidFill>
                <a:latin typeface="Poppins"/>
                <a:cs typeface="Poppins"/>
              </a:rPr>
              <a:t>Pl. „A </a:t>
            </a:r>
            <a:r>
              <a:rPr lang="en-GB" dirty="0" err="1">
                <a:solidFill>
                  <a:srgbClr val="00426A"/>
                </a:solidFill>
                <a:latin typeface="Poppins"/>
                <a:cs typeface="Poppins"/>
              </a:rPr>
              <a:t>macska</a:t>
            </a:r>
            <a:r>
              <a:rPr lang="en-GB" dirty="0">
                <a:solidFill>
                  <a:srgbClr val="00426A"/>
                </a:solidFill>
                <a:latin typeface="Poppins"/>
                <a:cs typeface="Poppins"/>
              </a:rPr>
              <a:t> </a:t>
            </a:r>
            <a:r>
              <a:rPr lang="en-GB" dirty="0" err="1">
                <a:solidFill>
                  <a:srgbClr val="00426A"/>
                </a:solidFill>
                <a:latin typeface="Poppins"/>
                <a:cs typeface="Poppins"/>
              </a:rPr>
              <a:t>felmászott</a:t>
            </a:r>
            <a:r>
              <a:rPr lang="en-GB" dirty="0">
                <a:solidFill>
                  <a:srgbClr val="00426A"/>
                </a:solidFill>
                <a:latin typeface="Poppins"/>
                <a:cs typeface="Poppins"/>
              </a:rPr>
              <a:t> a …” -&gt; a </a:t>
            </a:r>
            <a:r>
              <a:rPr lang="en-GB" dirty="0" err="1">
                <a:solidFill>
                  <a:srgbClr val="00426A"/>
                </a:solidFill>
                <a:latin typeface="Poppins"/>
                <a:cs typeface="Poppins"/>
              </a:rPr>
              <a:t>legvalószínűbb</a:t>
            </a:r>
            <a:r>
              <a:rPr lang="en-GB" dirty="0">
                <a:solidFill>
                  <a:srgbClr val="00426A"/>
                </a:solidFill>
                <a:latin typeface="Poppins"/>
                <a:cs typeface="Poppins"/>
              </a:rPr>
              <a:t> </a:t>
            </a:r>
            <a:r>
              <a:rPr lang="en-GB" dirty="0" err="1">
                <a:solidFill>
                  <a:srgbClr val="00426A"/>
                </a:solidFill>
                <a:latin typeface="Poppins"/>
                <a:cs typeface="Poppins"/>
              </a:rPr>
              <a:t>folytatás</a:t>
            </a:r>
            <a:r>
              <a:rPr lang="en-GB" dirty="0">
                <a:solidFill>
                  <a:srgbClr val="00426A"/>
                </a:solidFill>
                <a:latin typeface="Poppins"/>
                <a:cs typeface="Poppins"/>
              </a:rPr>
              <a:t>: </a:t>
            </a:r>
            <a:r>
              <a:rPr lang="en-GB" i="1" dirty="0">
                <a:solidFill>
                  <a:srgbClr val="00426A"/>
                </a:solidFill>
                <a:latin typeface="Poppins"/>
                <a:cs typeface="Poppins"/>
              </a:rPr>
              <a:t>„</a:t>
            </a:r>
            <a:r>
              <a:rPr lang="en-GB" i="1" dirty="0" err="1">
                <a:solidFill>
                  <a:srgbClr val="00426A"/>
                </a:solidFill>
                <a:latin typeface="Poppins"/>
                <a:cs typeface="Poppins"/>
              </a:rPr>
              <a:t>fára</a:t>
            </a:r>
            <a:r>
              <a:rPr lang="en-GB" i="1" dirty="0">
                <a:solidFill>
                  <a:srgbClr val="00426A"/>
                </a:solidFill>
                <a:latin typeface="Poppins"/>
                <a:cs typeface="Poppins"/>
              </a:rPr>
              <a:t>”</a:t>
            </a:r>
            <a:r>
              <a:rPr lang="en-GB" dirty="0">
                <a:solidFill>
                  <a:srgbClr val="00426A"/>
                </a:solidFill>
                <a:latin typeface="Poppins"/>
                <a:cs typeface="Poppins"/>
              </a:rPr>
              <a:t>.</a:t>
            </a:r>
            <a:endParaRPr lang="hu-HU" dirty="0">
              <a:solidFill>
                <a:srgbClr val="00426A"/>
              </a:solidFill>
            </a:endParaRPr>
          </a:p>
        </p:txBody>
      </p:sp>
      <p:sp>
        <p:nvSpPr>
          <p:cNvPr id="10" name="Téglalap: lekerekített 9">
            <a:extLst>
              <a:ext uri="{FF2B5EF4-FFF2-40B4-BE49-F238E27FC236}">
                <a16:creationId xmlns:a16="http://schemas.microsoft.com/office/drawing/2014/main" id="{6D3A75DE-EC6F-5701-7605-4F2DED7005A0}"/>
              </a:ext>
            </a:extLst>
          </p:cNvPr>
          <p:cNvSpPr/>
          <p:nvPr/>
        </p:nvSpPr>
        <p:spPr>
          <a:xfrm>
            <a:off x="6465677" y="4775389"/>
            <a:ext cx="4824247" cy="1781987"/>
          </a:xfrm>
          <a:prstGeom prst="roundRect">
            <a:avLst/>
          </a:prstGeom>
          <a:solidFill>
            <a:srgbClr val="0042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9E130341-0EB0-A0E1-4D43-1653CA20B456}"/>
              </a:ext>
            </a:extLst>
          </p:cNvPr>
          <p:cNvSpPr txBox="1"/>
          <p:nvPr/>
        </p:nvSpPr>
        <p:spPr>
          <a:xfrm>
            <a:off x="6664205" y="4853036"/>
            <a:ext cx="4438409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>
                <a:solidFill>
                  <a:schemeClr val="bg1"/>
                </a:solidFill>
                <a:ea typeface="+mn-lt"/>
                <a:cs typeface="+mn-lt"/>
              </a:rPr>
              <a:t>Ezért van az, hogy az MI néha teljesen jó választ ad, máskor viszont butaságot mond, mert csak valószínűségeket számol – nem érti a mondat jelentését úgy, mint mi.</a:t>
            </a:r>
            <a:endParaRPr lang="hu-HU" sz="2000">
              <a:solidFill>
                <a:schemeClr val="bg1"/>
              </a:solidFill>
            </a:endParaRPr>
          </a:p>
        </p:txBody>
      </p:sp>
      <p:pic>
        <p:nvPicPr>
          <p:cNvPr id="14" name="Kép 13" descr="A képen fa, emlős, Macskafélék, kültéri látható&#10;&#10;Lehet, hogy az AI által létrehozott tartalom helytelen.">
            <a:extLst>
              <a:ext uri="{FF2B5EF4-FFF2-40B4-BE49-F238E27FC236}">
                <a16:creationId xmlns:a16="http://schemas.microsoft.com/office/drawing/2014/main" id="{07CD23AE-EBF0-AF2C-3F4C-97EEE20D1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19652"/>
            <a:ext cx="5864086" cy="8801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8638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Freeform: Shape 125">
            <a:extLst>
              <a:ext uri="{FF2B5EF4-FFF2-40B4-BE49-F238E27FC236}">
                <a16:creationId xmlns:a16="http://schemas.microsoft.com/office/drawing/2014/main" id="{DBABA1DB-591B-9E8F-054A-CDC08843D41C}"/>
              </a:ext>
            </a:extLst>
          </p:cNvPr>
          <p:cNvSpPr/>
          <p:nvPr/>
        </p:nvSpPr>
        <p:spPr>
          <a:xfrm>
            <a:off x="0" y="5334000"/>
            <a:ext cx="1524000" cy="1524000"/>
          </a:xfrm>
          <a:custGeom>
            <a:avLst/>
            <a:gdLst>
              <a:gd name="connsiteX0" fmla="*/ 0 w 1524000"/>
              <a:gd name="connsiteY0" fmla="*/ 0 h 1524000"/>
              <a:gd name="connsiteX1" fmla="*/ 0 w 1524000"/>
              <a:gd name="connsiteY1" fmla="*/ 1524000 h 1524000"/>
              <a:gd name="connsiteX2" fmla="*/ 1524000 w 1524000"/>
              <a:gd name="connsiteY2" fmla="*/ 1524000 h 1524000"/>
              <a:gd name="connsiteX3" fmla="*/ 0 w 1524000"/>
              <a:gd name="connsiteY3" fmla="*/ 0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4000" h="1524000">
                <a:moveTo>
                  <a:pt x="0" y="0"/>
                </a:moveTo>
                <a:lnTo>
                  <a:pt x="0" y="1524000"/>
                </a:lnTo>
                <a:lnTo>
                  <a:pt x="152400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C4D600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7" name="Freeform: Shape 126">
            <a:extLst>
              <a:ext uri="{FF2B5EF4-FFF2-40B4-BE49-F238E27FC236}">
                <a16:creationId xmlns:a16="http://schemas.microsoft.com/office/drawing/2014/main" id="{80E8188B-E8F9-9D18-071E-0E7A98E61A79}"/>
              </a:ext>
            </a:extLst>
          </p:cNvPr>
          <p:cNvSpPr/>
          <p:nvPr/>
        </p:nvSpPr>
        <p:spPr>
          <a:xfrm>
            <a:off x="0" y="781050"/>
            <a:ext cx="2276475" cy="4552950"/>
          </a:xfrm>
          <a:custGeom>
            <a:avLst/>
            <a:gdLst>
              <a:gd name="connsiteX0" fmla="*/ 0 w 2276475"/>
              <a:gd name="connsiteY0" fmla="*/ 4552950 h 4552950"/>
              <a:gd name="connsiteX1" fmla="*/ 2276475 w 2276475"/>
              <a:gd name="connsiteY1" fmla="*/ 2276475 h 4552950"/>
              <a:gd name="connsiteX2" fmla="*/ 0 w 2276475"/>
              <a:gd name="connsiteY2" fmla="*/ 0 h 4552950"/>
              <a:gd name="connsiteX3" fmla="*/ 0 w 2276475"/>
              <a:gd name="connsiteY3" fmla="*/ 4552950 h 4552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6475" h="4552950">
                <a:moveTo>
                  <a:pt x="0" y="4552950"/>
                </a:moveTo>
                <a:lnTo>
                  <a:pt x="2276475" y="2276475"/>
                </a:lnTo>
                <a:lnTo>
                  <a:pt x="0" y="0"/>
                </a:lnTo>
                <a:lnTo>
                  <a:pt x="0" y="4552950"/>
                </a:lnTo>
                <a:close/>
              </a:path>
            </a:pathLst>
          </a:custGeom>
          <a:solidFill>
            <a:srgbClr val="009CDE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8" name="Freeform: Shape 127">
            <a:extLst>
              <a:ext uri="{FF2B5EF4-FFF2-40B4-BE49-F238E27FC236}">
                <a16:creationId xmlns:a16="http://schemas.microsoft.com/office/drawing/2014/main" id="{7C1F01F5-CBE6-9404-72DD-18EBAEBC74F7}"/>
              </a:ext>
            </a:extLst>
          </p:cNvPr>
          <p:cNvSpPr/>
          <p:nvPr/>
        </p:nvSpPr>
        <p:spPr>
          <a:xfrm rot="2700000">
            <a:off x="730388" y="4731531"/>
            <a:ext cx="3800475" cy="2722816"/>
          </a:xfrm>
          <a:custGeom>
            <a:avLst/>
            <a:gdLst>
              <a:gd name="connsiteX0" fmla="*/ 3800475 w 3800475"/>
              <a:gd name="connsiteY0" fmla="*/ 2722816 h 2722816"/>
              <a:gd name="connsiteX1" fmla="*/ 1645222 w 3800475"/>
              <a:gd name="connsiteY1" fmla="*/ 2722816 h 2722816"/>
              <a:gd name="connsiteX2" fmla="*/ 0 w 3800475"/>
              <a:gd name="connsiteY2" fmla="*/ 1077595 h 2722816"/>
              <a:gd name="connsiteX3" fmla="*/ 1077595 w 3800475"/>
              <a:gd name="connsiteY3" fmla="*/ 0 h 2722816"/>
              <a:gd name="connsiteX4" fmla="*/ 3800475 w 3800475"/>
              <a:gd name="connsiteY4" fmla="*/ 2722816 h 272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00475" h="2722816">
                <a:moveTo>
                  <a:pt x="3800475" y="2722816"/>
                </a:moveTo>
                <a:lnTo>
                  <a:pt x="1645222" y="2722816"/>
                </a:lnTo>
                <a:lnTo>
                  <a:pt x="0" y="1077595"/>
                </a:lnTo>
                <a:lnTo>
                  <a:pt x="1077595" y="0"/>
                </a:lnTo>
                <a:lnTo>
                  <a:pt x="3800475" y="2722816"/>
                </a:lnTo>
                <a:close/>
              </a:path>
            </a:pathLst>
          </a:custGeom>
          <a:solidFill>
            <a:srgbClr val="A50050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2E4FF0-3BFD-3091-4F17-D1A4D1BDED7E}"/>
              </a:ext>
            </a:extLst>
          </p:cNvPr>
          <p:cNvSpPr txBox="1">
            <a:spLocks/>
          </p:cNvSpPr>
          <p:nvPr/>
        </p:nvSpPr>
        <p:spPr>
          <a:xfrm>
            <a:off x="6262394" y="417513"/>
            <a:ext cx="5445372" cy="717066"/>
          </a:xfrm>
          <a:prstGeom prst="rect">
            <a:avLst/>
          </a:prstGeom>
        </p:spPr>
        <p:txBody>
          <a:bodyPr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GB" b="1" err="1">
                <a:solidFill>
                  <a:srgbClr val="00426A"/>
                </a:solidFill>
                <a:ea typeface="+mj-lt"/>
                <a:cs typeface="+mj-lt"/>
              </a:rPr>
              <a:t>Tanulás</a:t>
            </a:r>
            <a:r>
              <a:rPr lang="en-GB" b="1">
                <a:solidFill>
                  <a:srgbClr val="00426A"/>
                </a:solidFill>
                <a:ea typeface="+mj-lt"/>
                <a:cs typeface="+mj-lt"/>
              </a:rPr>
              <a:t> </a:t>
            </a:r>
            <a:r>
              <a:rPr lang="en-GB" b="1" err="1">
                <a:solidFill>
                  <a:srgbClr val="00426A"/>
                </a:solidFill>
                <a:ea typeface="+mj-lt"/>
                <a:cs typeface="+mj-lt"/>
              </a:rPr>
              <a:t>sok</a:t>
            </a:r>
            <a:r>
              <a:rPr lang="en-GB" b="1">
                <a:solidFill>
                  <a:srgbClr val="00426A"/>
                </a:solidFill>
                <a:ea typeface="+mj-lt"/>
                <a:cs typeface="+mj-lt"/>
              </a:rPr>
              <a:t> </a:t>
            </a:r>
            <a:r>
              <a:rPr lang="en-GB" b="1" err="1">
                <a:solidFill>
                  <a:srgbClr val="00426A"/>
                </a:solidFill>
                <a:ea typeface="+mj-lt"/>
                <a:cs typeface="+mj-lt"/>
              </a:rPr>
              <a:t>szövegből</a:t>
            </a:r>
            <a:endParaRPr lang="hu-HU" b="1" err="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4481CF-6B74-93CA-96EF-ACBD3DCA3F9E}"/>
              </a:ext>
            </a:extLst>
          </p:cNvPr>
          <p:cNvSpPr/>
          <p:nvPr/>
        </p:nvSpPr>
        <p:spPr>
          <a:xfrm>
            <a:off x="6260236" y="1139845"/>
            <a:ext cx="5392275" cy="91577"/>
          </a:xfrm>
          <a:prstGeom prst="rect">
            <a:avLst/>
          </a:prstGeom>
          <a:solidFill>
            <a:srgbClr val="C4D600"/>
          </a:solidFill>
          <a:ln>
            <a:solidFill>
              <a:srgbClr val="C4D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highlight>
                <a:srgbClr val="C4D600"/>
              </a:highlight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Kép 4" descr="A képen Mobiltelefon, képernyőkép, Kommunikációs eszköz, Hordozható kommunikációs eszköz látható&#10;&#10;Lehet, hogy az AI által létrehozott tartalom helytelen.">
            <a:extLst>
              <a:ext uri="{FF2B5EF4-FFF2-40B4-BE49-F238E27FC236}">
                <a16:creationId xmlns:a16="http://schemas.microsoft.com/office/drawing/2014/main" id="{371CF2A3-C5A1-04DE-E724-7904425FE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09261" y="-1369391"/>
            <a:ext cx="8514521" cy="8514521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C8239B7B-9C72-CFBF-D54F-B78D8A9A0E82}"/>
              </a:ext>
            </a:extLst>
          </p:cNvPr>
          <p:cNvSpPr txBox="1"/>
          <p:nvPr/>
        </p:nvSpPr>
        <p:spPr>
          <a:xfrm>
            <a:off x="6260048" y="1717222"/>
            <a:ext cx="570593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b="1">
                <a:solidFill>
                  <a:srgbClr val="009CDE"/>
                </a:solidFill>
                <a:ea typeface="+mn-lt"/>
                <a:cs typeface="+mn-lt"/>
              </a:rPr>
              <a:t>A </a:t>
            </a:r>
            <a:r>
              <a:rPr lang="hu-HU" sz="2000" b="1" err="1">
                <a:solidFill>
                  <a:srgbClr val="009CDE"/>
                </a:solidFill>
                <a:ea typeface="+mn-lt"/>
                <a:cs typeface="+mn-lt"/>
              </a:rPr>
              <a:t>ChatGPT</a:t>
            </a:r>
            <a:r>
              <a:rPr lang="hu-HU" sz="2000" b="1">
                <a:solidFill>
                  <a:srgbClr val="009CDE"/>
                </a:solidFill>
                <a:ea typeface="+mn-lt"/>
                <a:cs typeface="+mn-lt"/>
              </a:rPr>
              <a:t>-t milliárdnyi mondaton tanították.</a:t>
            </a:r>
            <a:endParaRPr lang="hu-HU" sz="2000" b="1">
              <a:solidFill>
                <a:srgbClr val="009CDE"/>
              </a:solidFill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EE26AD96-6535-6876-84B8-7D4A2BBD6032}"/>
              </a:ext>
            </a:extLst>
          </p:cNvPr>
          <p:cNvSpPr txBox="1"/>
          <p:nvPr/>
        </p:nvSpPr>
        <p:spPr>
          <a:xfrm>
            <a:off x="6367740" y="2594817"/>
            <a:ext cx="5204547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>
                <a:solidFill>
                  <a:srgbClr val="00426A"/>
                </a:solidFill>
                <a:ea typeface="+mn-lt"/>
                <a:cs typeface="+mn-lt"/>
              </a:rPr>
              <a:t>Forrás: pl. </a:t>
            </a:r>
            <a:r>
              <a:rPr lang="hu-HU" sz="2000" err="1">
                <a:solidFill>
                  <a:srgbClr val="00426A"/>
                </a:solidFill>
                <a:ea typeface="+mn-lt"/>
                <a:cs typeface="+mn-lt"/>
              </a:rPr>
              <a:t>Reddit</a:t>
            </a:r>
            <a:r>
              <a:rPr lang="hu-HU" sz="2000">
                <a:solidFill>
                  <a:srgbClr val="00426A"/>
                </a:solidFill>
                <a:ea typeface="+mn-lt"/>
                <a:cs typeface="+mn-lt"/>
              </a:rPr>
              <a:t> fórum → sok beszélgetés.</a:t>
            </a:r>
          </a:p>
          <a:p>
            <a:endParaRPr lang="hu-HU" sz="2000">
              <a:solidFill>
                <a:srgbClr val="00426A"/>
              </a:solidFill>
              <a:ea typeface="+mn-lt"/>
              <a:cs typeface="+mn-lt"/>
            </a:endParaRPr>
          </a:p>
          <a:p>
            <a:r>
              <a:rPr lang="hu-HU" sz="2000" b="1">
                <a:solidFill>
                  <a:srgbClr val="00426A"/>
                </a:solidFill>
                <a:ea typeface="+mn-lt"/>
                <a:cs typeface="+mn-lt"/>
              </a:rPr>
              <a:t>Problémák:</a:t>
            </a:r>
            <a:endParaRPr lang="hu-HU" sz="2000" b="1">
              <a:solidFill>
                <a:srgbClr val="00426A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hu-HU" sz="2000">
                <a:solidFill>
                  <a:srgbClr val="00426A"/>
                </a:solidFill>
                <a:ea typeface="+mn-lt"/>
                <a:cs typeface="+mn-lt"/>
              </a:rPr>
              <a:t>sok pontatlan információ</a:t>
            </a:r>
            <a:endParaRPr lang="hu-HU" sz="2000">
              <a:solidFill>
                <a:srgbClr val="00426A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hu-HU" sz="2000">
                <a:solidFill>
                  <a:srgbClr val="00426A"/>
                </a:solidFill>
                <a:ea typeface="+mn-lt"/>
                <a:cs typeface="+mn-lt"/>
              </a:rPr>
              <a:t>vicces túlzások, szleng</a:t>
            </a:r>
            <a:endParaRPr lang="hu-HU" sz="2000">
              <a:solidFill>
                <a:srgbClr val="00426A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hu-HU" sz="2000">
                <a:solidFill>
                  <a:srgbClr val="00426A"/>
                </a:solidFill>
                <a:ea typeface="+mn-lt"/>
                <a:cs typeface="+mn-lt"/>
              </a:rPr>
              <a:t>néha álhírek</a:t>
            </a:r>
          </a:p>
          <a:p>
            <a:pPr marL="285750" indent="-285750">
              <a:buFont typeface="Arial"/>
              <a:buChar char="•"/>
            </a:pPr>
            <a:endParaRPr lang="hu-HU" sz="2000">
              <a:solidFill>
                <a:srgbClr val="00426A"/>
              </a:solidFill>
              <a:ea typeface="+mn-lt"/>
              <a:cs typeface="+mn-lt"/>
            </a:endParaRPr>
          </a:p>
          <a:p>
            <a:r>
              <a:rPr lang="hu-HU" sz="2000">
                <a:solidFill>
                  <a:srgbClr val="00426A"/>
                </a:solidFill>
                <a:ea typeface="+mn-lt"/>
                <a:cs typeface="+mn-lt"/>
              </a:rPr>
              <a:t>Emiatt a chatbot néha torz, vicces vagy téves választ adhat.</a:t>
            </a:r>
            <a:endParaRPr lang="hu-HU" sz="2000">
              <a:solidFill>
                <a:srgbClr val="00426A"/>
              </a:solidFill>
            </a:endParaRPr>
          </a:p>
          <a:p>
            <a:pPr algn="l"/>
            <a:endParaRPr lang="hu-HU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915952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23818-69DD-BE95-1CE4-F9EE1CEE2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DF67677C-35D9-191E-D8B1-A330A51934A8}"/>
              </a:ext>
            </a:extLst>
          </p:cNvPr>
          <p:cNvGrpSpPr/>
          <p:nvPr/>
        </p:nvGrpSpPr>
        <p:grpSpPr>
          <a:xfrm>
            <a:off x="0" y="3819525"/>
            <a:ext cx="3038474" cy="3038475"/>
            <a:chOff x="0" y="3819525"/>
            <a:chExt cx="3038474" cy="3038475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0899AC5-8E40-F315-3924-AB8DB0D8ECE3}"/>
                </a:ext>
              </a:extLst>
            </p:cNvPr>
            <p:cNvSpPr/>
            <p:nvPr/>
          </p:nvSpPr>
          <p:spPr>
            <a:xfrm>
              <a:off x="0" y="6096000"/>
              <a:ext cx="762000" cy="762000"/>
            </a:xfrm>
            <a:custGeom>
              <a:avLst/>
              <a:gdLst>
                <a:gd name="connsiteX0" fmla="*/ 0 w 762000"/>
                <a:gd name="connsiteY0" fmla="*/ 0 h 762000"/>
                <a:gd name="connsiteX1" fmla="*/ 0 w 762000"/>
                <a:gd name="connsiteY1" fmla="*/ 762000 h 762000"/>
                <a:gd name="connsiteX2" fmla="*/ 762000 w 762000"/>
                <a:gd name="connsiteY2" fmla="*/ 762000 h 762000"/>
                <a:gd name="connsiteX3" fmla="*/ 0 w 762000"/>
                <a:gd name="connsiteY3" fmla="*/ 0 h 76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0" h="762000">
                  <a:moveTo>
                    <a:pt x="0" y="0"/>
                  </a:moveTo>
                  <a:lnTo>
                    <a:pt x="0" y="762000"/>
                  </a:lnTo>
                  <a:lnTo>
                    <a:pt x="762000" y="762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D600"/>
            </a:solidFill>
            <a:ln w="6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341EEFF-445A-E090-5F21-20D06C789F11}"/>
                </a:ext>
              </a:extLst>
            </p:cNvPr>
            <p:cNvSpPr/>
            <p:nvPr/>
          </p:nvSpPr>
          <p:spPr>
            <a:xfrm>
              <a:off x="0" y="3819525"/>
              <a:ext cx="1138237" cy="2276475"/>
            </a:xfrm>
            <a:custGeom>
              <a:avLst/>
              <a:gdLst>
                <a:gd name="connsiteX0" fmla="*/ 0 w 1138237"/>
                <a:gd name="connsiteY0" fmla="*/ 2276475 h 2276475"/>
                <a:gd name="connsiteX1" fmla="*/ 1138238 w 1138237"/>
                <a:gd name="connsiteY1" fmla="*/ 1138238 h 2276475"/>
                <a:gd name="connsiteX2" fmla="*/ 0 w 1138237"/>
                <a:gd name="connsiteY2" fmla="*/ 0 h 2276475"/>
                <a:gd name="connsiteX3" fmla="*/ 0 w 1138237"/>
                <a:gd name="connsiteY3" fmla="*/ 2276475 h 227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8237" h="2276475">
                  <a:moveTo>
                    <a:pt x="0" y="2276475"/>
                  </a:moveTo>
                  <a:lnTo>
                    <a:pt x="1138238" y="1138238"/>
                  </a:lnTo>
                  <a:lnTo>
                    <a:pt x="0" y="0"/>
                  </a:lnTo>
                  <a:lnTo>
                    <a:pt x="0" y="2276475"/>
                  </a:lnTo>
                  <a:close/>
                </a:path>
              </a:pathLst>
            </a:custGeom>
            <a:solidFill>
              <a:srgbClr val="009CDE"/>
            </a:solidFill>
            <a:ln w="6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3D0C1F3-DBF9-E63C-9487-B060CF5236B3}"/>
                </a:ext>
              </a:extLst>
            </p:cNvPr>
            <p:cNvSpPr/>
            <p:nvPr/>
          </p:nvSpPr>
          <p:spPr>
            <a:xfrm>
              <a:off x="1138237" y="5496559"/>
              <a:ext cx="1900237" cy="1361440"/>
            </a:xfrm>
            <a:custGeom>
              <a:avLst/>
              <a:gdLst>
                <a:gd name="connsiteX0" fmla="*/ 1900238 w 1900237"/>
                <a:gd name="connsiteY0" fmla="*/ 1361440 h 1361440"/>
                <a:gd name="connsiteX1" fmla="*/ 822579 w 1900237"/>
                <a:gd name="connsiteY1" fmla="*/ 1361440 h 1361440"/>
                <a:gd name="connsiteX2" fmla="*/ 0 w 1900237"/>
                <a:gd name="connsiteY2" fmla="*/ 538861 h 1361440"/>
                <a:gd name="connsiteX3" fmla="*/ 538798 w 1900237"/>
                <a:gd name="connsiteY3" fmla="*/ 0 h 1361440"/>
                <a:gd name="connsiteX4" fmla="*/ 1900238 w 1900237"/>
                <a:gd name="connsiteY4" fmla="*/ 1361440 h 136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0237" h="1361440">
                  <a:moveTo>
                    <a:pt x="1900238" y="1361440"/>
                  </a:moveTo>
                  <a:lnTo>
                    <a:pt x="822579" y="1361440"/>
                  </a:lnTo>
                  <a:lnTo>
                    <a:pt x="0" y="538861"/>
                  </a:lnTo>
                  <a:lnTo>
                    <a:pt x="538798" y="0"/>
                  </a:lnTo>
                  <a:lnTo>
                    <a:pt x="1900238" y="1361440"/>
                  </a:lnTo>
                  <a:close/>
                </a:path>
              </a:pathLst>
            </a:custGeom>
            <a:solidFill>
              <a:srgbClr val="A50050"/>
            </a:solidFill>
            <a:ln w="6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0FE31C3A-2A00-5BF8-7DF7-052A78EF5C83}"/>
              </a:ext>
            </a:extLst>
          </p:cNvPr>
          <p:cNvSpPr/>
          <p:nvPr/>
        </p:nvSpPr>
        <p:spPr>
          <a:xfrm>
            <a:off x="8990457" y="0"/>
            <a:ext cx="1524000" cy="762000"/>
          </a:xfrm>
          <a:custGeom>
            <a:avLst/>
            <a:gdLst>
              <a:gd name="connsiteX0" fmla="*/ 762000 w 1524000"/>
              <a:gd name="connsiteY0" fmla="*/ 0 h 762000"/>
              <a:gd name="connsiteX1" fmla="*/ 0 w 1524000"/>
              <a:gd name="connsiteY1" fmla="*/ 0 h 762000"/>
              <a:gd name="connsiteX2" fmla="*/ 762000 w 1524000"/>
              <a:gd name="connsiteY2" fmla="*/ 762000 h 762000"/>
              <a:gd name="connsiteX3" fmla="*/ 1524000 w 1524000"/>
              <a:gd name="connsiteY3" fmla="*/ 0 h 762000"/>
              <a:gd name="connsiteX4" fmla="*/ 762000 w 1524000"/>
              <a:gd name="connsiteY4" fmla="*/ 0 h 76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000" h="762000">
                <a:moveTo>
                  <a:pt x="762000" y="0"/>
                </a:moveTo>
                <a:lnTo>
                  <a:pt x="0" y="0"/>
                </a:lnTo>
                <a:lnTo>
                  <a:pt x="762000" y="762000"/>
                </a:lnTo>
                <a:lnTo>
                  <a:pt x="1524000" y="0"/>
                </a:lnTo>
                <a:lnTo>
                  <a:pt x="762000" y="0"/>
                </a:lnTo>
                <a:close/>
              </a:path>
            </a:pathLst>
          </a:custGeom>
          <a:solidFill>
            <a:srgbClr val="A50050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18838203-889B-A143-59B1-FD84C7000056}"/>
              </a:ext>
            </a:extLst>
          </p:cNvPr>
          <p:cNvSpPr/>
          <p:nvPr/>
        </p:nvSpPr>
        <p:spPr>
          <a:xfrm rot="18900000">
            <a:off x="9115394" y="2372643"/>
            <a:ext cx="762000" cy="762000"/>
          </a:xfrm>
          <a:custGeom>
            <a:avLst/>
            <a:gdLst>
              <a:gd name="connsiteX0" fmla="*/ 0 w 762000"/>
              <a:gd name="connsiteY0" fmla="*/ 0 h 762000"/>
              <a:gd name="connsiteX1" fmla="*/ 762000 w 762000"/>
              <a:gd name="connsiteY1" fmla="*/ 0 h 762000"/>
              <a:gd name="connsiteX2" fmla="*/ 762000 w 762000"/>
              <a:gd name="connsiteY2" fmla="*/ 762000 h 762000"/>
              <a:gd name="connsiteX3" fmla="*/ 0 w 762000"/>
              <a:gd name="connsiteY3" fmla="*/ 762000 h 76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close/>
              </a:path>
            </a:pathLst>
          </a:custGeom>
          <a:solidFill>
            <a:srgbClr val="009CDE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6EB78095-78EA-9807-18FE-9D1E9B78F381}"/>
              </a:ext>
            </a:extLst>
          </p:cNvPr>
          <p:cNvSpPr/>
          <p:nvPr/>
        </p:nvSpPr>
        <p:spPr>
          <a:xfrm>
            <a:off x="7341108" y="598360"/>
            <a:ext cx="2155253" cy="2155253"/>
          </a:xfrm>
          <a:custGeom>
            <a:avLst/>
            <a:gdLst>
              <a:gd name="connsiteX0" fmla="*/ 1616456 w 2155253"/>
              <a:gd name="connsiteY0" fmla="*/ 1077595 h 2155253"/>
              <a:gd name="connsiteX1" fmla="*/ 1077596 w 2155253"/>
              <a:gd name="connsiteY1" fmla="*/ 538798 h 2155253"/>
              <a:gd name="connsiteX2" fmla="*/ 538797 w 2155253"/>
              <a:gd name="connsiteY2" fmla="*/ 0 h 2155253"/>
              <a:gd name="connsiteX3" fmla="*/ 0 w 2155253"/>
              <a:gd name="connsiteY3" fmla="*/ 538798 h 2155253"/>
              <a:gd name="connsiteX4" fmla="*/ 538797 w 2155253"/>
              <a:gd name="connsiteY4" fmla="*/ 1077595 h 2155253"/>
              <a:gd name="connsiteX5" fmla="*/ 1077596 w 2155253"/>
              <a:gd name="connsiteY5" fmla="*/ 1616456 h 2155253"/>
              <a:gd name="connsiteX6" fmla="*/ 1616456 w 2155253"/>
              <a:gd name="connsiteY6" fmla="*/ 2155254 h 2155253"/>
              <a:gd name="connsiteX7" fmla="*/ 2155254 w 2155253"/>
              <a:gd name="connsiteY7" fmla="*/ 1616456 h 2155253"/>
              <a:gd name="connsiteX8" fmla="*/ 1616456 w 2155253"/>
              <a:gd name="connsiteY8" fmla="*/ 1077595 h 2155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55253" h="2155253">
                <a:moveTo>
                  <a:pt x="1616456" y="1077595"/>
                </a:moveTo>
                <a:lnTo>
                  <a:pt x="1077596" y="538798"/>
                </a:lnTo>
                <a:lnTo>
                  <a:pt x="538797" y="0"/>
                </a:lnTo>
                <a:lnTo>
                  <a:pt x="0" y="538798"/>
                </a:lnTo>
                <a:lnTo>
                  <a:pt x="538797" y="1077595"/>
                </a:lnTo>
                <a:lnTo>
                  <a:pt x="1077596" y="1616456"/>
                </a:lnTo>
                <a:lnTo>
                  <a:pt x="1616456" y="2155254"/>
                </a:lnTo>
                <a:lnTo>
                  <a:pt x="2155254" y="1616456"/>
                </a:lnTo>
                <a:lnTo>
                  <a:pt x="1616456" y="1077595"/>
                </a:lnTo>
                <a:close/>
              </a:path>
            </a:pathLst>
          </a:custGeom>
          <a:solidFill>
            <a:srgbClr val="C4D600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24383390-4411-9107-A288-43597C8761C3}"/>
              </a:ext>
            </a:extLst>
          </p:cNvPr>
          <p:cNvSpPr/>
          <p:nvPr/>
        </p:nvSpPr>
        <p:spPr>
          <a:xfrm>
            <a:off x="6812026" y="1137158"/>
            <a:ext cx="2155253" cy="2155253"/>
          </a:xfrm>
          <a:custGeom>
            <a:avLst/>
            <a:gdLst>
              <a:gd name="connsiteX0" fmla="*/ 1616456 w 2155253"/>
              <a:gd name="connsiteY0" fmla="*/ 1077659 h 2155253"/>
              <a:gd name="connsiteX1" fmla="*/ 1077595 w 2155253"/>
              <a:gd name="connsiteY1" fmla="*/ 538797 h 2155253"/>
              <a:gd name="connsiteX2" fmla="*/ 538798 w 2155253"/>
              <a:gd name="connsiteY2" fmla="*/ 0 h 2155253"/>
              <a:gd name="connsiteX3" fmla="*/ 0 w 2155253"/>
              <a:gd name="connsiteY3" fmla="*/ 538797 h 2155253"/>
              <a:gd name="connsiteX4" fmla="*/ 538798 w 2155253"/>
              <a:gd name="connsiteY4" fmla="*/ 1077659 h 2155253"/>
              <a:gd name="connsiteX5" fmla="*/ 1077595 w 2155253"/>
              <a:gd name="connsiteY5" fmla="*/ 1616456 h 2155253"/>
              <a:gd name="connsiteX6" fmla="*/ 1616456 w 2155253"/>
              <a:gd name="connsiteY6" fmla="*/ 2155254 h 2155253"/>
              <a:gd name="connsiteX7" fmla="*/ 2155253 w 2155253"/>
              <a:gd name="connsiteY7" fmla="*/ 1616456 h 2155253"/>
              <a:gd name="connsiteX8" fmla="*/ 1616456 w 2155253"/>
              <a:gd name="connsiteY8" fmla="*/ 1077659 h 2155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55253" h="2155253">
                <a:moveTo>
                  <a:pt x="1616456" y="1077659"/>
                </a:moveTo>
                <a:lnTo>
                  <a:pt x="1077595" y="538797"/>
                </a:lnTo>
                <a:lnTo>
                  <a:pt x="538798" y="0"/>
                </a:lnTo>
                <a:lnTo>
                  <a:pt x="0" y="538797"/>
                </a:lnTo>
                <a:lnTo>
                  <a:pt x="538798" y="1077659"/>
                </a:lnTo>
                <a:lnTo>
                  <a:pt x="1077595" y="1616456"/>
                </a:lnTo>
                <a:lnTo>
                  <a:pt x="1616456" y="2155254"/>
                </a:lnTo>
                <a:lnTo>
                  <a:pt x="2155253" y="1616456"/>
                </a:lnTo>
                <a:lnTo>
                  <a:pt x="1616456" y="1077659"/>
                </a:lnTo>
                <a:close/>
              </a:path>
            </a:pathLst>
          </a:custGeom>
          <a:solidFill>
            <a:srgbClr val="A50050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8DAE3EA-505A-F211-9D7C-A91374F2B307}"/>
              </a:ext>
            </a:extLst>
          </p:cNvPr>
          <p:cNvSpPr/>
          <p:nvPr/>
        </p:nvSpPr>
        <p:spPr>
          <a:xfrm rot="18900000">
            <a:off x="10350774" y="913957"/>
            <a:ext cx="1524000" cy="1524000"/>
          </a:xfrm>
          <a:custGeom>
            <a:avLst/>
            <a:gdLst>
              <a:gd name="connsiteX0" fmla="*/ 0 w 1524000"/>
              <a:gd name="connsiteY0" fmla="*/ 0 h 1524000"/>
              <a:gd name="connsiteX1" fmla="*/ 1524000 w 1524000"/>
              <a:gd name="connsiteY1" fmla="*/ 0 h 1524000"/>
              <a:gd name="connsiteX2" fmla="*/ 1524000 w 1524000"/>
              <a:gd name="connsiteY2" fmla="*/ 1524000 h 1524000"/>
              <a:gd name="connsiteX3" fmla="*/ 0 w 1524000"/>
              <a:gd name="connsiteY3" fmla="*/ 1524000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4000" h="1524000">
                <a:moveTo>
                  <a:pt x="0" y="0"/>
                </a:moveTo>
                <a:lnTo>
                  <a:pt x="1524000" y="0"/>
                </a:lnTo>
                <a:lnTo>
                  <a:pt x="1524000" y="1524000"/>
                </a:lnTo>
                <a:lnTo>
                  <a:pt x="0" y="1524000"/>
                </a:lnTo>
                <a:close/>
              </a:path>
            </a:pathLst>
          </a:custGeom>
          <a:solidFill>
            <a:srgbClr val="009CDE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442C45E9-FEB6-AEF7-CCD0-FAB8A59CB1B6}"/>
              </a:ext>
            </a:extLst>
          </p:cNvPr>
          <p:cNvSpPr/>
          <p:nvPr/>
        </p:nvSpPr>
        <p:spPr>
          <a:xfrm>
            <a:off x="6203950" y="0"/>
            <a:ext cx="1675955" cy="1137158"/>
          </a:xfrm>
          <a:custGeom>
            <a:avLst/>
            <a:gdLst>
              <a:gd name="connsiteX0" fmla="*/ 1077595 w 1675955"/>
              <a:gd name="connsiteY0" fmla="*/ 0 h 1137158"/>
              <a:gd name="connsiteX1" fmla="*/ 0 w 1675955"/>
              <a:gd name="connsiteY1" fmla="*/ 0 h 1137158"/>
              <a:gd name="connsiteX2" fmla="*/ 59499 w 1675955"/>
              <a:gd name="connsiteY2" fmla="*/ 59563 h 1137158"/>
              <a:gd name="connsiteX3" fmla="*/ 598297 w 1675955"/>
              <a:gd name="connsiteY3" fmla="*/ 598361 h 1137158"/>
              <a:gd name="connsiteX4" fmla="*/ 1137158 w 1675955"/>
              <a:gd name="connsiteY4" fmla="*/ 1137158 h 1137158"/>
              <a:gd name="connsiteX5" fmla="*/ 1675955 w 1675955"/>
              <a:gd name="connsiteY5" fmla="*/ 598361 h 1137158"/>
              <a:gd name="connsiteX6" fmla="*/ 1137158 w 1675955"/>
              <a:gd name="connsiteY6" fmla="*/ 59563 h 1137158"/>
              <a:gd name="connsiteX7" fmla="*/ 1077595 w 1675955"/>
              <a:gd name="connsiteY7" fmla="*/ 0 h 1137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75955" h="1137158">
                <a:moveTo>
                  <a:pt x="1077595" y="0"/>
                </a:moveTo>
                <a:lnTo>
                  <a:pt x="0" y="0"/>
                </a:lnTo>
                <a:lnTo>
                  <a:pt x="59499" y="59563"/>
                </a:lnTo>
                <a:lnTo>
                  <a:pt x="598297" y="598361"/>
                </a:lnTo>
                <a:lnTo>
                  <a:pt x="1137158" y="1137158"/>
                </a:lnTo>
                <a:lnTo>
                  <a:pt x="1675955" y="598361"/>
                </a:lnTo>
                <a:lnTo>
                  <a:pt x="1137158" y="59563"/>
                </a:lnTo>
                <a:lnTo>
                  <a:pt x="1077595" y="0"/>
                </a:lnTo>
                <a:close/>
              </a:path>
            </a:pathLst>
          </a:custGeom>
          <a:solidFill>
            <a:srgbClr val="009CDE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FC22FBE9-A87C-62C6-212B-1406C70264BF}"/>
              </a:ext>
            </a:extLst>
          </p:cNvPr>
          <p:cNvSpPr txBox="1"/>
          <p:nvPr/>
        </p:nvSpPr>
        <p:spPr>
          <a:xfrm>
            <a:off x="307622" y="575733"/>
            <a:ext cx="5777088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4400" b="1">
                <a:solidFill>
                  <a:srgbClr val="00426A"/>
                </a:solidFill>
                <a:ea typeface="+mn-lt"/>
                <a:cs typeface="+mn-lt"/>
              </a:rPr>
              <a:t>Példák a torzításokra</a:t>
            </a:r>
            <a:endParaRPr lang="hu-HU" sz="4400" b="1">
              <a:solidFill>
                <a:srgbClr val="00426A"/>
              </a:solidFill>
            </a:endParaRPr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6FBAB200-3A4B-5D82-5900-2A16480AB14B}"/>
              </a:ext>
            </a:extLst>
          </p:cNvPr>
          <p:cNvSpPr/>
          <p:nvPr/>
        </p:nvSpPr>
        <p:spPr>
          <a:xfrm>
            <a:off x="436297" y="1339862"/>
            <a:ext cx="5522343" cy="144953"/>
          </a:xfrm>
          <a:prstGeom prst="rect">
            <a:avLst/>
          </a:prstGeom>
          <a:solidFill>
            <a:srgbClr val="A50050"/>
          </a:solidFill>
          <a:ln>
            <a:solidFill>
              <a:srgbClr val="A50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85EF75AD-4B3D-1C6D-FFF1-B92928C0AB6B}"/>
              </a:ext>
            </a:extLst>
          </p:cNvPr>
          <p:cNvSpPr txBox="1"/>
          <p:nvPr/>
        </p:nvSpPr>
        <p:spPr>
          <a:xfrm>
            <a:off x="438150" y="2057399"/>
            <a:ext cx="6089647" cy="1214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400" err="1">
                <a:solidFill>
                  <a:srgbClr val="00426A"/>
                </a:solidFill>
                <a:ea typeface="+mn-lt"/>
                <a:cs typeface="+mn-lt"/>
              </a:rPr>
              <a:t>Redditen</a:t>
            </a:r>
            <a:r>
              <a:rPr lang="hu-HU" sz="2400">
                <a:solidFill>
                  <a:srgbClr val="00426A"/>
                </a:solidFill>
                <a:ea typeface="+mn-lt"/>
                <a:cs typeface="+mn-lt"/>
              </a:rPr>
              <a:t>: „A macska mindig gonosz, a kutya mindig jó.” → MI modell ismételhet sztereotípiákat (torzítás).</a:t>
            </a:r>
            <a:endParaRPr lang="hu-HU" sz="2400">
              <a:solidFill>
                <a:srgbClr val="00426A"/>
              </a:solidFill>
            </a:endParaRP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CCE52BC0-61BA-DBC4-9E03-2601AE19F2CF}"/>
              </a:ext>
            </a:extLst>
          </p:cNvPr>
          <p:cNvSpPr txBox="1"/>
          <p:nvPr/>
        </p:nvSpPr>
        <p:spPr>
          <a:xfrm>
            <a:off x="2329039" y="3821288"/>
            <a:ext cx="6089647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400">
                <a:solidFill>
                  <a:srgbClr val="00426A"/>
                </a:solidFill>
                <a:ea typeface="+mn-lt"/>
                <a:cs typeface="+mn-lt"/>
              </a:rPr>
              <a:t>Álhírek → a chatbot néha hasonló stílusban válaszolt.</a:t>
            </a:r>
            <a:endParaRPr lang="hu-HU">
              <a:ea typeface="+mn-lt"/>
              <a:cs typeface="+mn-lt"/>
            </a:endParaRP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B97E86B2-8924-4718-38B3-2F48FDACE280}"/>
              </a:ext>
            </a:extLst>
          </p:cNvPr>
          <p:cNvSpPr txBox="1"/>
          <p:nvPr/>
        </p:nvSpPr>
        <p:spPr>
          <a:xfrm>
            <a:off x="4290484" y="5119510"/>
            <a:ext cx="6089647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400">
                <a:solidFill>
                  <a:srgbClr val="00426A"/>
                </a:solidFill>
                <a:ea typeface="+mn-lt"/>
                <a:cs typeface="+mn-lt"/>
              </a:rPr>
              <a:t>Szleng: „</a:t>
            </a:r>
            <a:r>
              <a:rPr lang="hu-HU" sz="2400" err="1">
                <a:solidFill>
                  <a:srgbClr val="00426A"/>
                </a:solidFill>
                <a:ea typeface="+mn-lt"/>
                <a:cs typeface="+mn-lt"/>
              </a:rPr>
              <a:t>lol</a:t>
            </a:r>
            <a:r>
              <a:rPr lang="hu-HU" sz="2400">
                <a:solidFill>
                  <a:srgbClr val="00426A"/>
                </a:solidFill>
                <a:ea typeface="+mn-lt"/>
                <a:cs typeface="+mn-lt"/>
              </a:rPr>
              <a:t>, </a:t>
            </a:r>
            <a:r>
              <a:rPr lang="hu-HU" sz="2400" err="1">
                <a:solidFill>
                  <a:srgbClr val="00426A"/>
                </a:solidFill>
                <a:ea typeface="+mn-lt"/>
                <a:cs typeface="+mn-lt"/>
              </a:rPr>
              <a:t>epic</a:t>
            </a:r>
            <a:r>
              <a:rPr lang="hu-HU" sz="2400">
                <a:solidFill>
                  <a:srgbClr val="00426A"/>
                </a:solidFill>
                <a:ea typeface="+mn-lt"/>
                <a:cs typeface="+mn-lt"/>
              </a:rPr>
              <a:t> </a:t>
            </a:r>
            <a:r>
              <a:rPr lang="hu-HU" sz="2400" err="1">
                <a:solidFill>
                  <a:srgbClr val="00426A"/>
                </a:solidFill>
                <a:ea typeface="+mn-lt"/>
                <a:cs typeface="+mn-lt"/>
              </a:rPr>
              <a:t>fail</a:t>
            </a:r>
            <a:r>
              <a:rPr lang="hu-HU" sz="2400">
                <a:solidFill>
                  <a:srgbClr val="00426A"/>
                </a:solidFill>
                <a:ea typeface="+mn-lt"/>
                <a:cs typeface="+mn-lt"/>
              </a:rPr>
              <a:t>” – a chatbot megtanulta, de nem tudta, hogy ez vicc.</a:t>
            </a:r>
            <a:endParaRPr lang="hu-HU">
              <a:ea typeface="+mn-lt"/>
              <a:cs typeface="+mn-lt"/>
            </a:endParaRPr>
          </a:p>
        </p:txBody>
      </p:sp>
      <p:pic>
        <p:nvPicPr>
          <p:cNvPr id="10" name="Kép 9" descr="A képen Kis- és közepes méretű macskák, Macskafélék, Bajusz, házimacska látható&#10;&#10;Lehet, hogy az AI által létrehozott tartalom helytelen.">
            <a:extLst>
              <a:ext uri="{FF2B5EF4-FFF2-40B4-BE49-F238E27FC236}">
                <a16:creationId xmlns:a16="http://schemas.microsoft.com/office/drawing/2014/main" id="{1FA51FF8-BA64-D2EC-9133-76457A250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8111" y="1679222"/>
            <a:ext cx="6858000" cy="6858000"/>
          </a:xfrm>
          <a:prstGeom prst="rect">
            <a:avLst/>
          </a:prstGeom>
        </p:spPr>
      </p:pic>
      <p:pic>
        <p:nvPicPr>
          <p:cNvPr id="11" name="Kép 10" descr="A képen Kutyafajta, kutya, emlős, háziállat látható&#10;&#10;Lehet, hogy az AI által létrehozott tartalom helytelen.">
            <a:extLst>
              <a:ext uri="{FF2B5EF4-FFF2-40B4-BE49-F238E27FC236}">
                <a16:creationId xmlns:a16="http://schemas.microsoft.com/office/drawing/2014/main" id="{2C9A9546-B724-1040-EB80-80FEFAB63D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905000" y="266700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5234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zövegdoboz 18">
            <a:extLst>
              <a:ext uri="{FF2B5EF4-FFF2-40B4-BE49-F238E27FC236}">
                <a16:creationId xmlns:a16="http://schemas.microsoft.com/office/drawing/2014/main" id="{B36016F6-8BAF-320B-2542-36F3F4D6505B}"/>
              </a:ext>
            </a:extLst>
          </p:cNvPr>
          <p:cNvSpPr txBox="1"/>
          <p:nvPr/>
        </p:nvSpPr>
        <p:spPr>
          <a:xfrm>
            <a:off x="3793067" y="5115217"/>
            <a:ext cx="4605868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4800" b="1">
                <a:solidFill>
                  <a:srgbClr val="00426A"/>
                </a:solidFill>
              </a:rPr>
              <a:t>Beszélgessünk!</a:t>
            </a:r>
            <a:endParaRPr lang="hu-HU" sz="4800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00F46C9F-5D2C-F111-A25A-A9969F1FF4A6}"/>
              </a:ext>
            </a:extLst>
          </p:cNvPr>
          <p:cNvSpPr/>
          <p:nvPr/>
        </p:nvSpPr>
        <p:spPr>
          <a:xfrm>
            <a:off x="3351506" y="5947439"/>
            <a:ext cx="5392275" cy="91577"/>
          </a:xfrm>
          <a:prstGeom prst="rect">
            <a:avLst/>
          </a:prstGeom>
          <a:solidFill>
            <a:srgbClr val="C4D600"/>
          </a:solidFill>
          <a:ln>
            <a:solidFill>
              <a:srgbClr val="C4D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highlight>
                <a:srgbClr val="C4D600"/>
              </a:highlight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5" name="Csoportba foglalás 24">
            <a:extLst>
              <a:ext uri="{FF2B5EF4-FFF2-40B4-BE49-F238E27FC236}">
                <a16:creationId xmlns:a16="http://schemas.microsoft.com/office/drawing/2014/main" id="{8065C6F6-3DF4-1D9B-2712-648D16A12B0A}"/>
              </a:ext>
            </a:extLst>
          </p:cNvPr>
          <p:cNvGrpSpPr/>
          <p:nvPr/>
        </p:nvGrpSpPr>
        <p:grpSpPr>
          <a:xfrm>
            <a:off x="1772010" y="898371"/>
            <a:ext cx="3143249" cy="3711159"/>
            <a:chOff x="1772010" y="898371"/>
            <a:chExt cx="3143249" cy="3711159"/>
          </a:xfrm>
        </p:grpSpPr>
        <p:grpSp>
          <p:nvGrpSpPr>
            <p:cNvPr id="5" name="Csoportba foglalás 4">
              <a:extLst>
                <a:ext uri="{FF2B5EF4-FFF2-40B4-BE49-F238E27FC236}">
                  <a16:creationId xmlns:a16="http://schemas.microsoft.com/office/drawing/2014/main" id="{AAA82DBE-5471-F7D5-0951-5A2BA7727071}"/>
                </a:ext>
              </a:extLst>
            </p:cNvPr>
            <p:cNvGrpSpPr/>
            <p:nvPr/>
          </p:nvGrpSpPr>
          <p:grpSpPr>
            <a:xfrm rot="-720000">
              <a:off x="1772010" y="898371"/>
              <a:ext cx="3143249" cy="3711159"/>
              <a:chOff x="2324099" y="1504950"/>
              <a:chExt cx="3143249" cy="3711159"/>
            </a:xfrm>
          </p:grpSpPr>
          <p:sp>
            <p:nvSpPr>
              <p:cNvPr id="2" name="Téglalap: lekerekített 1">
                <a:extLst>
                  <a:ext uri="{FF2B5EF4-FFF2-40B4-BE49-F238E27FC236}">
                    <a16:creationId xmlns:a16="http://schemas.microsoft.com/office/drawing/2014/main" id="{C5670BC1-4881-308C-DD7C-59EA772128D2}"/>
                  </a:ext>
                </a:extLst>
              </p:cNvPr>
              <p:cNvSpPr/>
              <p:nvPr/>
            </p:nvSpPr>
            <p:spPr>
              <a:xfrm>
                <a:off x="2324099" y="1504950"/>
                <a:ext cx="3143249" cy="3711159"/>
              </a:xfrm>
              <a:prstGeom prst="roundRect">
                <a:avLst/>
              </a:prstGeom>
              <a:solidFill>
                <a:srgbClr val="009CDE"/>
              </a:solidFill>
              <a:ln>
                <a:noFill/>
              </a:ln>
              <a:effectLst>
                <a:outerShdw blurRad="177800" dist="38100" dir="3300000">
                  <a:srgbClr val="000000">
                    <a:alpha val="56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4" name="Szövegdoboz 3">
                <a:extLst>
                  <a:ext uri="{FF2B5EF4-FFF2-40B4-BE49-F238E27FC236}">
                    <a16:creationId xmlns:a16="http://schemas.microsoft.com/office/drawing/2014/main" id="{3E6AD94C-AE29-7D66-28DD-F179E3DB65E8}"/>
                  </a:ext>
                </a:extLst>
              </p:cNvPr>
              <p:cNvSpPr txBox="1"/>
              <p:nvPr/>
            </p:nvSpPr>
            <p:spPr>
              <a:xfrm>
                <a:off x="2680000" y="2773348"/>
                <a:ext cx="2682681" cy="2062103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hu-HU" sz="3200">
                    <a:solidFill>
                      <a:schemeClr val="bg1"/>
                    </a:solidFill>
                    <a:latin typeface="Poppins"/>
                    <a:cs typeface="Poppins"/>
                  </a:rPr>
                  <a:t>Az MI tényleg tudja, mit mond?</a:t>
                </a:r>
                <a:endParaRPr lang="hu-HU" sz="320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2" name="Szövegdoboz 21">
              <a:extLst>
                <a:ext uri="{FF2B5EF4-FFF2-40B4-BE49-F238E27FC236}">
                  <a16:creationId xmlns:a16="http://schemas.microsoft.com/office/drawing/2014/main" id="{E8705D32-23A9-AAF9-8501-13E6DDBB67E5}"/>
                </a:ext>
              </a:extLst>
            </p:cNvPr>
            <p:cNvSpPr txBox="1"/>
            <p:nvPr/>
          </p:nvSpPr>
          <p:spPr>
            <a:xfrm rot="-720000">
              <a:off x="1905201" y="1302004"/>
              <a:ext cx="1521099" cy="101566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hu-HU" sz="6000" b="1">
                  <a:solidFill>
                    <a:schemeClr val="bg1"/>
                  </a:solidFill>
                </a:rPr>
                <a:t>01</a:t>
              </a:r>
            </a:p>
          </p:txBody>
        </p:sp>
      </p:grpSp>
      <p:grpSp>
        <p:nvGrpSpPr>
          <p:cNvPr id="26" name="Csoportba foglalás 25">
            <a:extLst>
              <a:ext uri="{FF2B5EF4-FFF2-40B4-BE49-F238E27FC236}">
                <a16:creationId xmlns:a16="http://schemas.microsoft.com/office/drawing/2014/main" id="{BAF3BF09-AB7E-DBD0-CDED-42C8E22BA611}"/>
              </a:ext>
            </a:extLst>
          </p:cNvPr>
          <p:cNvGrpSpPr/>
          <p:nvPr/>
        </p:nvGrpSpPr>
        <p:grpSpPr>
          <a:xfrm>
            <a:off x="4510707" y="610428"/>
            <a:ext cx="3143249" cy="3711159"/>
            <a:chOff x="4510707" y="610428"/>
            <a:chExt cx="3143249" cy="3711159"/>
          </a:xfrm>
        </p:grpSpPr>
        <p:grpSp>
          <p:nvGrpSpPr>
            <p:cNvPr id="12" name="Csoportba foglalás 11">
              <a:extLst>
                <a:ext uri="{FF2B5EF4-FFF2-40B4-BE49-F238E27FC236}">
                  <a16:creationId xmlns:a16="http://schemas.microsoft.com/office/drawing/2014/main" id="{BE4358A2-27A3-1CAB-8198-32623B6DF00C}"/>
                </a:ext>
              </a:extLst>
            </p:cNvPr>
            <p:cNvGrpSpPr/>
            <p:nvPr/>
          </p:nvGrpSpPr>
          <p:grpSpPr>
            <a:xfrm>
              <a:off x="4510707" y="610428"/>
              <a:ext cx="3143249" cy="3711159"/>
              <a:chOff x="2324099" y="1504950"/>
              <a:chExt cx="3143249" cy="3711159"/>
            </a:xfrm>
          </p:grpSpPr>
          <p:sp>
            <p:nvSpPr>
              <p:cNvPr id="13" name="Téglalap: lekerekített 12">
                <a:extLst>
                  <a:ext uri="{FF2B5EF4-FFF2-40B4-BE49-F238E27FC236}">
                    <a16:creationId xmlns:a16="http://schemas.microsoft.com/office/drawing/2014/main" id="{C91394E2-9C2D-16D3-BACE-36F458E76E82}"/>
                  </a:ext>
                </a:extLst>
              </p:cNvPr>
              <p:cNvSpPr/>
              <p:nvPr/>
            </p:nvSpPr>
            <p:spPr>
              <a:xfrm>
                <a:off x="2324099" y="1504950"/>
                <a:ext cx="3143249" cy="3711159"/>
              </a:xfrm>
              <a:prstGeom prst="roundRect">
                <a:avLst/>
              </a:prstGeom>
              <a:solidFill>
                <a:srgbClr val="A50050"/>
              </a:solidFill>
              <a:ln>
                <a:noFill/>
              </a:ln>
              <a:effectLst>
                <a:outerShdw blurRad="177800" dist="38100" dir="3300000">
                  <a:srgbClr val="000000">
                    <a:alpha val="56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" name="Szövegdoboz 13">
                <a:extLst>
                  <a:ext uri="{FF2B5EF4-FFF2-40B4-BE49-F238E27FC236}">
                    <a16:creationId xmlns:a16="http://schemas.microsoft.com/office/drawing/2014/main" id="{959CB210-282E-C71F-9FF1-A9E8862F542D}"/>
                  </a:ext>
                </a:extLst>
              </p:cNvPr>
              <p:cNvSpPr txBox="1"/>
              <p:nvPr/>
            </p:nvSpPr>
            <p:spPr>
              <a:xfrm>
                <a:off x="2538475" y="2773125"/>
                <a:ext cx="2406595" cy="230832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hu-HU" sz="2400">
                    <a:solidFill>
                      <a:schemeClr val="bg1"/>
                    </a:solidFill>
                    <a:latin typeface="Poppins"/>
                    <a:cs typeface="Poppins"/>
                  </a:rPr>
                  <a:t>Miért lehet veszélyes, ha pl. csak </a:t>
                </a:r>
                <a:r>
                  <a:rPr lang="hu-HU" sz="2400" err="1">
                    <a:solidFill>
                      <a:schemeClr val="bg1"/>
                    </a:solidFill>
                    <a:latin typeface="Poppins"/>
                    <a:cs typeface="Poppins"/>
                  </a:rPr>
                  <a:t>Reddit</a:t>
                </a:r>
                <a:r>
                  <a:rPr lang="hu-HU" sz="2400">
                    <a:solidFill>
                      <a:schemeClr val="bg1"/>
                    </a:solidFill>
                    <a:latin typeface="Poppins"/>
                    <a:cs typeface="Poppins"/>
                  </a:rPr>
                  <a:t>-fórumokról tanul?</a:t>
                </a:r>
                <a:endParaRPr lang="hu-HU" sz="240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3" name="Szövegdoboz 22">
              <a:extLst>
                <a:ext uri="{FF2B5EF4-FFF2-40B4-BE49-F238E27FC236}">
                  <a16:creationId xmlns:a16="http://schemas.microsoft.com/office/drawing/2014/main" id="{40641BF4-0EF7-26AA-0A56-BFA5AF4B8AF1}"/>
                </a:ext>
              </a:extLst>
            </p:cNvPr>
            <p:cNvSpPr txBox="1"/>
            <p:nvPr/>
          </p:nvSpPr>
          <p:spPr>
            <a:xfrm>
              <a:off x="4713357" y="936487"/>
              <a:ext cx="1395896" cy="101566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hu-HU" sz="6000" b="1">
                  <a:solidFill>
                    <a:srgbClr val="FFFFFF"/>
                  </a:solidFill>
                </a:rPr>
                <a:t>02</a:t>
              </a:r>
              <a:endParaRPr lang="hu-HU" sz="6000"/>
            </a:p>
          </p:txBody>
        </p:sp>
      </p:grpSp>
      <p:grpSp>
        <p:nvGrpSpPr>
          <p:cNvPr id="27" name="Csoportba foglalás 26">
            <a:extLst>
              <a:ext uri="{FF2B5EF4-FFF2-40B4-BE49-F238E27FC236}">
                <a16:creationId xmlns:a16="http://schemas.microsoft.com/office/drawing/2014/main" id="{CEDC849C-56A4-D094-5A70-860D4A0283CC}"/>
              </a:ext>
            </a:extLst>
          </p:cNvPr>
          <p:cNvGrpSpPr/>
          <p:nvPr/>
        </p:nvGrpSpPr>
        <p:grpSpPr>
          <a:xfrm>
            <a:off x="7315885" y="896548"/>
            <a:ext cx="3143249" cy="3711159"/>
            <a:chOff x="7415276" y="951765"/>
            <a:chExt cx="3143249" cy="3711159"/>
          </a:xfrm>
        </p:grpSpPr>
        <p:grpSp>
          <p:nvGrpSpPr>
            <p:cNvPr id="15" name="Csoportba foglalás 14">
              <a:extLst>
                <a:ext uri="{FF2B5EF4-FFF2-40B4-BE49-F238E27FC236}">
                  <a16:creationId xmlns:a16="http://schemas.microsoft.com/office/drawing/2014/main" id="{F4A17C30-87C1-BBFA-3F2D-1A6BEF0FEA79}"/>
                </a:ext>
              </a:extLst>
            </p:cNvPr>
            <p:cNvGrpSpPr/>
            <p:nvPr/>
          </p:nvGrpSpPr>
          <p:grpSpPr>
            <a:xfrm rot="900000">
              <a:off x="7415276" y="951765"/>
              <a:ext cx="3143249" cy="3711159"/>
              <a:chOff x="2452105" y="1470651"/>
              <a:chExt cx="3143249" cy="3711159"/>
            </a:xfrm>
          </p:grpSpPr>
          <p:sp>
            <p:nvSpPr>
              <p:cNvPr id="16" name="Téglalap: lekerekített 15">
                <a:extLst>
                  <a:ext uri="{FF2B5EF4-FFF2-40B4-BE49-F238E27FC236}">
                    <a16:creationId xmlns:a16="http://schemas.microsoft.com/office/drawing/2014/main" id="{68DF5E31-51F7-F981-327E-BA49DC23B6D2}"/>
                  </a:ext>
                </a:extLst>
              </p:cNvPr>
              <p:cNvSpPr/>
              <p:nvPr/>
            </p:nvSpPr>
            <p:spPr>
              <a:xfrm>
                <a:off x="2452105" y="1470651"/>
                <a:ext cx="3143249" cy="3711159"/>
              </a:xfrm>
              <a:prstGeom prst="roundRect">
                <a:avLst/>
              </a:prstGeom>
              <a:solidFill>
                <a:srgbClr val="00426A"/>
              </a:solidFill>
              <a:ln>
                <a:noFill/>
              </a:ln>
              <a:effectLst>
                <a:outerShdw blurRad="177800" dist="38100" dir="3300000">
                  <a:srgbClr val="000000">
                    <a:alpha val="56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7" name="Szövegdoboz 16">
                <a:extLst>
                  <a:ext uri="{FF2B5EF4-FFF2-40B4-BE49-F238E27FC236}">
                    <a16:creationId xmlns:a16="http://schemas.microsoft.com/office/drawing/2014/main" id="{DA7EB12B-A3B3-F0F7-83A5-E285D2334CA0}"/>
                  </a:ext>
                </a:extLst>
              </p:cNvPr>
              <p:cNvSpPr txBox="1"/>
              <p:nvPr/>
            </p:nvSpPr>
            <p:spPr>
              <a:xfrm>
                <a:off x="2529547" y="3079364"/>
                <a:ext cx="2848333" cy="181588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hu-HU" sz="2800">
                    <a:solidFill>
                      <a:schemeClr val="bg1"/>
                    </a:solidFill>
                    <a:latin typeface="Poppins"/>
                    <a:cs typeface="Poppins"/>
                  </a:rPr>
                  <a:t>Mit kell csinálnunk a chatbot válaszaival?</a:t>
                </a:r>
                <a:endParaRPr lang="hu-HU" sz="280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4" name="Szövegdoboz 23">
              <a:extLst>
                <a:ext uri="{FF2B5EF4-FFF2-40B4-BE49-F238E27FC236}">
                  <a16:creationId xmlns:a16="http://schemas.microsoft.com/office/drawing/2014/main" id="{4710319A-24AD-89EE-30DE-1CE43B9BCF0A}"/>
                </a:ext>
              </a:extLst>
            </p:cNvPr>
            <p:cNvSpPr txBox="1"/>
            <p:nvPr/>
          </p:nvSpPr>
          <p:spPr>
            <a:xfrm rot="840000">
              <a:off x="7761357" y="1201530"/>
              <a:ext cx="1097722" cy="101566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hu-HU" sz="6000" b="1">
                  <a:solidFill>
                    <a:srgbClr val="FFFFFF"/>
                  </a:solidFill>
                </a:rPr>
                <a:t>03</a:t>
              </a:r>
              <a:endParaRPr lang="hu-HU" sz="6000"/>
            </a:p>
          </p:txBody>
        </p:sp>
      </p:grpSp>
    </p:spTree>
    <p:extLst>
      <p:ext uri="{BB962C8B-B14F-4D97-AF65-F5344CB8AC3E}">
        <p14:creationId xmlns:p14="http://schemas.microsoft.com/office/powerpoint/2010/main" val="31803372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7FBF2852E6E0498702774C9D65A85D" ma:contentTypeVersion="18" ma:contentTypeDescription="Create a new document." ma:contentTypeScope="" ma:versionID="a9aa2e06d9301832647cf17642279dc8">
  <xsd:schema xmlns:xsd="http://www.w3.org/2001/XMLSchema" xmlns:xs="http://www.w3.org/2001/XMLSchema" xmlns:p="http://schemas.microsoft.com/office/2006/metadata/properties" xmlns:ns2="bbcbf1ea-ed88-45c3-83e9-1db5d619e850" xmlns:ns3="01727954-54e4-4ec2-a063-211cb0a80a18" targetNamespace="http://schemas.microsoft.com/office/2006/metadata/properties" ma:root="true" ma:fieldsID="f7010174a8966ade9b4664da5d294ae1" ns2:_="" ns3:_="">
    <xsd:import namespace="bbcbf1ea-ed88-45c3-83e9-1db5d619e850"/>
    <xsd:import namespace="01727954-54e4-4ec2-a063-211cb0a80a1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cbf1ea-ed88-45c3-83e9-1db5d619e8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15b5293-c845-4727-b97b-ea55abce833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727954-54e4-4ec2-a063-211cb0a80a18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ecc1122b-bf76-4aab-8e09-b074c7469966}" ma:internalName="TaxCatchAll" ma:showField="CatchAllData" ma:web="01727954-54e4-4ec2-a063-211cb0a80a1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bcbf1ea-ed88-45c3-83e9-1db5d619e850">
      <Terms xmlns="http://schemas.microsoft.com/office/infopath/2007/PartnerControls"/>
    </lcf76f155ced4ddcb4097134ff3c332f>
    <TaxCatchAll xmlns="01727954-54e4-4ec2-a063-211cb0a80a18" xsi:nil="true"/>
  </documentManagement>
</p:properties>
</file>

<file path=customXml/itemProps1.xml><?xml version="1.0" encoding="utf-8"?>
<ds:datastoreItem xmlns:ds="http://schemas.openxmlformats.org/officeDocument/2006/customXml" ds:itemID="{C36B6371-F7E6-42FE-A5A7-A0F11D0694D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F68E80B-C528-47F0-BB95-F5913E02B914}"/>
</file>

<file path=customXml/itemProps3.xml><?xml version="1.0" encoding="utf-8"?>
<ds:datastoreItem xmlns:ds="http://schemas.openxmlformats.org/officeDocument/2006/customXml" ds:itemID="{38CD73E3-CA9E-4EF5-BDEB-6F0CAC7E3581}">
  <ds:schemaRefs>
    <ds:schemaRef ds:uri="01727954-54e4-4ec2-a063-211cb0a80a18"/>
    <ds:schemaRef ds:uri="bbcbf1ea-ed88-45c3-83e9-1db5d619e85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1368</Words>
  <Application>Microsoft Office PowerPoint</Application>
  <PresentationFormat>Szélesvásznú</PresentationFormat>
  <Paragraphs>133</Paragraphs>
  <Slides>11</Slides>
  <Notes>11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Poppins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Dóczi Melinda</dc:creator>
  <cp:lastModifiedBy>Stumphauser Nóra</cp:lastModifiedBy>
  <cp:revision>5</cp:revision>
  <dcterms:created xsi:type="dcterms:W3CDTF">2025-09-16T15:00:16Z</dcterms:created>
  <dcterms:modified xsi:type="dcterms:W3CDTF">2025-10-03T08:56:33Z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0x010100F47FBF2852E6E0498702774C9D65A85D</vt:lpwstr>
  </property>
</Properties>
</file>